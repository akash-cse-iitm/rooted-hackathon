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pitch: RootED keeps first-generation learners in school by removing the real barriers to staying — not just adding more lectures. Mention this is an ecosystem of 6 connected pillars, with 3 software pipelines we can demo today. (RootED is a working name — swap in your team's name.)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user, not the feature. The key insight judges should remember: dropping out is rarely one big event — it's many small unaddressed barriers stacking up. Our six pillars each remove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pitch. Read a couple of rows out loud as 'student says X -&gt; RootED does Y'. It shows we designed backwards from real student pain, not forwards from a cool tech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tour of all six. Then signal what's next: 'The first three are software pipelines we can build and demo this weekend — let me show you how each one works.' That sets up the next three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theme-fit scorecard — judges score against these exact five bullets. Stress that we deliberately cover all five, including 'vocational skill documentation' (the skills passport) and 'bridge learning for returnees' (Gap-Finder catch-up roadmaps), which a content-only platform would miss. The two gold rows are the ones most submissions forget.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top to bottom: four kinds of users -&gt; one simple app -&gt; four engines doing the work -&gt; shared foundations. Highlight that AI4Bharat's Indic models (built at IIT Madras) give us strong native-language ASR and translation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novel pillar — call it out. The 'earn' part directly attacks the money pressure that pushes first-gen students out. AI-first-draft + human-vetting keeps quality high and costs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phrase: 'find the root, not the symptom.' The concept/prerequisite graph is what makes this smarter than a quiz app — answering wrong on topic C points us back to the missing basic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'grounded' — RAG means every answer is backed by a real document and link, which matters when you're advising vulnerable students about money and schemes. The escalation path is what builds trust: the bot never just says 'I don't know.'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here: these aren't weekend-buildable software features — they're partnership and operations work. Including them shows judges we understand the problem is bigger than an app, which is exactly why holistic beats yet-another-content-platform.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we're standing on strong open shoulders — AI4Bharat handles the hard Indic-language ML so we focus on the product. Everything here is open-source or low-cost, which matters for a non-profit-leaning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reward focus. Saying clearly 'here's what we'll actually demo vs. what needs partnerships' shows maturity. The MVP is all software we control; the roadmap items need real-world partners and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momentum: we leave the hackathon with a working demo, not a slide. Each phase adds the partnerships and funding the bigger pillars need. End on the multi-state ambition.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reasons and the metrics we'd track in a pilot. Final line to say out loud: 'We're not adding another place to watch lectures — we're removing the reasons students stop watching at all.'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914400"/>
            <a:ext cx="2926080" cy="2926080"/>
          </a:xfrm>
          <a:prstGeom prst="ellipse">
            <a:avLst/>
          </a:prstGeom>
          <a:solidFill>
            <a:srgbClr val="14746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108960"/>
            <a:ext cx="2194560" cy="2194560"/>
          </a:xfrm>
          <a:prstGeom prst="ellipse">
            <a:avLst/>
          </a:prstGeom>
          <a:solidFill>
            <a:srgbClr val="E9A23B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03504"/>
            <a:ext cx="868680" cy="868680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822960"/>
            <a:ext cx="429768" cy="429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3736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RootED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566928" y="26974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first-generation learners in the classroom.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66928" y="32004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holistic learn-and-stay ecosystem that tackles the real reasons students drop out — language, money, learning gaps, and what's happening at home.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43708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IDEA SUBMISSION   ·   TEAM ROOTED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first-generation learners drop out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WE'RE SOLVING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2070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often the first in their family to study this far. When they hit a wall, there's no one at home who has been there before — so small problems quietly snowball into dropping out.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2734056" cy="1417320"/>
          </a:xfrm>
          <a:prstGeom prst="roundRect">
            <a:avLst>
              <a:gd name="adj" fmla="val 4516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21792" y="20574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15798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0574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pressure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40080" y="258775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needs them to earn now, not study for a far-off payoff.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355848" y="1874520"/>
            <a:ext cx="2734056" cy="1417320"/>
          </a:xfrm>
          <a:prstGeom prst="roundRect">
            <a:avLst>
              <a:gd name="adj" fmla="val 4516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20440" y="20574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024" y="215798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7368" y="20574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barrier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538728" y="258775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lectures are in English; concepts get lost in translation.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254496" y="1874520"/>
            <a:ext cx="2734056" cy="1417320"/>
          </a:xfrm>
          <a:prstGeom prst="roundRect">
            <a:avLst>
              <a:gd name="adj" fmla="val 4516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19088" y="20574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2157984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86016" y="20574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gaps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37376" y="258775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missed basic makes every later topic feel impossible.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57200" y="3429000"/>
            <a:ext cx="2734056" cy="1417320"/>
          </a:xfrm>
          <a:prstGeom prst="roundRect">
            <a:avLst>
              <a:gd name="adj" fmla="val 4516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21792" y="36118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3712464"/>
            <a:ext cx="256032" cy="25603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88720" y="3611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home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640080" y="41422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quiet space, no guidance, sometimes a hostile environment.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355848" y="3429000"/>
            <a:ext cx="2734056" cy="1417320"/>
          </a:xfrm>
          <a:prstGeom prst="roundRect">
            <a:avLst>
              <a:gd name="adj" fmla="val 4516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3520440" y="36118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1024" y="3712464"/>
            <a:ext cx="256032" cy="25603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087368" y="3611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support net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3538728" y="41422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mentor to ask, no idea which scholarships even exist.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6254496" y="3429000"/>
            <a:ext cx="2734056" cy="1417320"/>
          </a:xfrm>
          <a:prstGeom prst="roundRect">
            <a:avLst>
              <a:gd name="adj" fmla="val 4516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6419088" y="36118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3712464"/>
            <a:ext cx="256032" cy="256032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986016" y="3611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family buy-in</a:t>
            </a:r>
            <a:endParaRPr lang="en-US" sz="1300" dirty="0"/>
          </a:p>
        </p:txBody>
      </p:sp>
      <p:sp>
        <p:nvSpPr>
          <p:cNvPr id="36" name="Text 27"/>
          <p:cNvSpPr/>
          <p:nvPr/>
        </p:nvSpPr>
        <p:spPr>
          <a:xfrm>
            <a:off x="6437376" y="41422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underestimate the long-term value of finishing.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idea: meet every barrier with a response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2070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ed-tech just adds more content. RootED is different — for each reason a student leaves, we built a specific pillar to keep them in.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afford to keep studying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160520" y="20299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617720" y="18470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FBF1DD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18470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&amp; Earn — get paid to translate lectures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2860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aren't in my language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160520" y="24871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17720" y="23042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EEF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754880" y="23042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Native-language transcripts of top open lectures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2743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lost and falling behind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160520" y="29443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617720" y="27614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FBF1DD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0" y="27614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gap-finder + a quick personal roadmap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32004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tells me what's out there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60520" y="34015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4617720" y="32186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EEF5F4"/>
          </a:solidFill>
          <a:ln/>
        </p:spPr>
      </p:sp>
      <p:sp>
        <p:nvSpPr>
          <p:cNvPr id="22" name="Text 19"/>
          <p:cNvSpPr/>
          <p:nvPr/>
        </p:nvSpPr>
        <p:spPr>
          <a:xfrm>
            <a:off x="4754880" y="3218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feed: bite-size content, quizzes, scholarships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36576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family wants me to quit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160520" y="38587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617720" y="36758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FBF1DD"/>
          </a:solidFill>
          <a:ln/>
        </p:spPr>
      </p:sp>
      <p:sp>
        <p:nvSpPr>
          <p:cNvPr id="26" name="Text 23"/>
          <p:cNvSpPr/>
          <p:nvPr/>
        </p:nvSpPr>
        <p:spPr>
          <a:xfrm>
            <a:off x="4754880" y="3675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NGO-led family counseling on long-term payoff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57200" y="41148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is not a place I can learn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160520" y="43159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617720" y="41330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EEF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754880" y="41330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 hostel / housing access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57200" y="45720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a problem and no one to ask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160520" y="4773168"/>
            <a:ext cx="384048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4617720" y="4590288"/>
            <a:ext cx="4069080" cy="365760"/>
          </a:xfrm>
          <a:prstGeom prst="roundRect">
            <a:avLst>
              <a:gd name="adj" fmla="val 12500"/>
            </a:avLst>
          </a:prstGeom>
          <a:solidFill>
            <a:srgbClr val="FBF1DD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0" y="45902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 that finds the exact help + links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pillars, one platform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2734056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8368" y="1499616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27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1499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Learn &amp; Earn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76656" y="21214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students translate open lectures into native languages — and earn micro-income for every vetted transcript.</a:t>
            </a:r>
            <a:endParaRPr lang="en-US" sz="970" dirty="0"/>
          </a:p>
        </p:txBody>
      </p:sp>
      <p:sp>
        <p:nvSpPr>
          <p:cNvPr id="11" name="Shape 7"/>
          <p:cNvSpPr/>
          <p:nvPr/>
        </p:nvSpPr>
        <p:spPr>
          <a:xfrm>
            <a:off x="3355848" y="1298448"/>
            <a:ext cx="2734056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57016" y="1499616"/>
            <a:ext cx="548640" cy="548640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627632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224528" y="1499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Gap-Finder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575304" y="21214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gamified diagnostic finds the root gap behind your confusion and builds a quick roadmap to close it.</a:t>
            </a:r>
            <a:endParaRPr lang="en-US" sz="970" dirty="0"/>
          </a:p>
        </p:txBody>
      </p:sp>
      <p:sp>
        <p:nvSpPr>
          <p:cNvPr id="16" name="Shape 11"/>
          <p:cNvSpPr/>
          <p:nvPr/>
        </p:nvSpPr>
        <p:spPr>
          <a:xfrm>
            <a:off x="6254496" y="1298448"/>
            <a:ext cx="2734056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455664" y="1499616"/>
            <a:ext cx="548640" cy="548640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627632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23176" y="1499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Reels Feed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6473952" y="21214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Swipeable short-form: chapter recaps, quick quizzes and scholarship alerts you can share with friends.</a:t>
            </a:r>
            <a:endParaRPr lang="en-US" sz="970" dirty="0"/>
          </a:p>
        </p:txBody>
      </p:sp>
      <p:sp>
        <p:nvSpPr>
          <p:cNvPr id="21" name="Shape 15"/>
          <p:cNvSpPr/>
          <p:nvPr/>
        </p:nvSpPr>
        <p:spPr>
          <a:xfrm>
            <a:off x="457200" y="3200400"/>
            <a:ext cx="2734056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8368" y="3401568"/>
            <a:ext cx="548640" cy="548640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529584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2588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Family Bridge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676656" y="4023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 counsel families on the long-term value of education and how to support their learner.</a:t>
            </a:r>
            <a:endParaRPr lang="en-US" sz="970" dirty="0"/>
          </a:p>
        </p:txBody>
      </p:sp>
      <p:sp>
        <p:nvSpPr>
          <p:cNvPr id="26" name="Shape 19"/>
          <p:cNvSpPr/>
          <p:nvPr/>
        </p:nvSpPr>
        <p:spPr>
          <a:xfrm>
            <a:off x="3355848" y="3200400"/>
            <a:ext cx="2734056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557016" y="3401568"/>
            <a:ext cx="548640" cy="548640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5032" y="3529584"/>
            <a:ext cx="292608" cy="29260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224528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Safe Housing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3575304" y="4023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affordable hostels so a tough home situation doesn't end an education.</a:t>
            </a:r>
            <a:endParaRPr lang="en-US" sz="970" dirty="0"/>
          </a:p>
        </p:txBody>
      </p:sp>
      <p:sp>
        <p:nvSpPr>
          <p:cNvPr id="31" name="Shape 23"/>
          <p:cNvSpPr/>
          <p:nvPr/>
        </p:nvSpPr>
        <p:spPr>
          <a:xfrm>
            <a:off x="6254496" y="3200400"/>
            <a:ext cx="2734056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6455664" y="3401568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529584"/>
            <a:ext cx="292608" cy="29260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23176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Help Chatbot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6473952" y="4023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in your language; a RAG assistant retrieves the exact resource, scheme or link — or routes you to a human.</a:t>
            </a:r>
            <a:endParaRPr lang="en-US" sz="9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VIDYA — all five sub-points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ALIGNMENT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207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targeting the VIDYA theme. Here's how the platform answers every sub-point it asks for — skilling and returnees included.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10512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EEF5F4"/>
          </a:solidFill>
          <a:ln/>
        </p:spPr>
      </p:sp>
      <p:sp>
        <p:nvSpPr>
          <p:cNvPr id="8" name="Shape 5"/>
          <p:cNvSpPr/>
          <p:nvPr/>
        </p:nvSpPr>
        <p:spPr>
          <a:xfrm>
            <a:off x="621792" y="190652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1975104"/>
            <a:ext cx="173736" cy="1737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8105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First-generation learner support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297680" y="181051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platform is designed around them — every pillar removes one barrier they face.</a:t>
            </a:r>
            <a:endParaRPr lang="en-US" sz="1020" dirty="0"/>
          </a:p>
        </p:txBody>
      </p:sp>
      <p:sp>
        <p:nvSpPr>
          <p:cNvPr id="12" name="Shape 8"/>
          <p:cNvSpPr/>
          <p:nvPr/>
        </p:nvSpPr>
        <p:spPr>
          <a:xfrm>
            <a:off x="457200" y="2386584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EEF5F4"/>
          </a:solidFill>
          <a:ln/>
        </p:spPr>
      </p:sp>
      <p:sp>
        <p:nvSpPr>
          <p:cNvPr id="13" name="Shape 9"/>
          <p:cNvSpPr/>
          <p:nvPr/>
        </p:nvSpPr>
        <p:spPr>
          <a:xfrm>
            <a:off x="621792" y="2482596"/>
            <a:ext cx="310896" cy="310896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255117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15568" y="2386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in mother tongue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297680" y="238658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Native-language lecture transcripts via AI4Bharat ASR + IndicTrans2.</a:t>
            </a:r>
            <a:endParaRPr lang="en-US" sz="1020" dirty="0"/>
          </a:p>
        </p:txBody>
      </p:sp>
      <p:sp>
        <p:nvSpPr>
          <p:cNvPr id="17" name="Shape 12"/>
          <p:cNvSpPr/>
          <p:nvPr/>
        </p:nvSpPr>
        <p:spPr>
          <a:xfrm>
            <a:off x="457200" y="2962656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EEF5F4"/>
          </a:solidFill>
          <a:ln/>
        </p:spPr>
      </p:sp>
      <p:sp>
        <p:nvSpPr>
          <p:cNvPr id="18" name="Shape 13"/>
          <p:cNvSpPr/>
          <p:nvPr/>
        </p:nvSpPr>
        <p:spPr>
          <a:xfrm>
            <a:off x="621792" y="30586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3127248"/>
            <a:ext cx="173736" cy="17373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15568" y="296265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dropout prevention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297680" y="2962656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Gap-Finder, Family Bridge and safe housing work together to keep students enrolled.</a:t>
            </a:r>
            <a:endParaRPr lang="en-US" sz="1020" dirty="0"/>
          </a:p>
        </p:txBody>
      </p:sp>
      <p:sp>
        <p:nvSpPr>
          <p:cNvPr id="22" name="Shape 16"/>
          <p:cNvSpPr/>
          <p:nvPr/>
        </p:nvSpPr>
        <p:spPr>
          <a:xfrm>
            <a:off x="457200" y="353872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BF1DD"/>
          </a:solidFill>
          <a:ln/>
        </p:spPr>
      </p:sp>
      <p:sp>
        <p:nvSpPr>
          <p:cNvPr id="23" name="Shape 17"/>
          <p:cNvSpPr/>
          <p:nvPr/>
        </p:nvSpPr>
        <p:spPr>
          <a:xfrm>
            <a:off x="621792" y="3634740"/>
            <a:ext cx="310896" cy="310896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3703320"/>
            <a:ext cx="173736" cy="17373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15568" y="35387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Vocational skill documentation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297680" y="353872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&amp; Earn doubles as a verifiable 'skills passport'; reels carry vocational micro-content too.</a:t>
            </a:r>
            <a:endParaRPr lang="en-US" sz="1020" dirty="0"/>
          </a:p>
        </p:txBody>
      </p:sp>
      <p:sp>
        <p:nvSpPr>
          <p:cNvPr id="27" name="Shape 20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BF1DD"/>
          </a:solidFill>
          <a:ln/>
        </p:spPr>
      </p:sp>
      <p:sp>
        <p:nvSpPr>
          <p:cNvPr id="28" name="Shape 21"/>
          <p:cNvSpPr/>
          <p:nvPr/>
        </p:nvSpPr>
        <p:spPr>
          <a:xfrm>
            <a:off x="621792" y="4210812"/>
            <a:ext cx="310896" cy="310896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" y="4279392"/>
            <a:ext cx="173736" cy="17373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115568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learning for returnees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297680" y="411480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Gap-Finder builds a catch-up roadmap so dropouts can rejoin at the right level.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all fits together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FRAMEWORK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170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F3D3E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32888" y="14173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F3D3E"/>
          </a:solidFill>
          <a:ln/>
        </p:spPr>
      </p:sp>
      <p:sp>
        <p:nvSpPr>
          <p:cNvPr id="10" name="Text 7"/>
          <p:cNvSpPr/>
          <p:nvPr/>
        </p:nvSpPr>
        <p:spPr>
          <a:xfrm>
            <a:off x="2532888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08576" y="14173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F3D3E"/>
          </a:solidFill>
          <a:ln/>
        </p:spPr>
      </p:sp>
      <p:sp>
        <p:nvSpPr>
          <p:cNvPr id="12" name="Text 9"/>
          <p:cNvSpPr/>
          <p:nvPr/>
        </p:nvSpPr>
        <p:spPr>
          <a:xfrm>
            <a:off x="4608576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Student-translators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684264" y="14173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F3D3E"/>
          </a:solidFill>
          <a:ln/>
        </p:spPr>
      </p:sp>
      <p:sp>
        <p:nvSpPr>
          <p:cNvPr id="14" name="Text 11"/>
          <p:cNvSpPr/>
          <p:nvPr/>
        </p:nvSpPr>
        <p:spPr>
          <a:xfrm>
            <a:off x="6684264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 &amp; mentors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1920240"/>
            <a:ext cx="0" cy="201168"/>
          </a:xfrm>
          <a:prstGeom prst="line">
            <a:avLst/>
          </a:prstGeom>
          <a:noFill/>
          <a:ln w="25400">
            <a:solidFill>
              <a:srgbClr val="5E7472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57200" y="2176272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13432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97280" y="217627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RootED app  ·  mobile-first  ·  multilingual  ·  works on low bandwidth &amp; offline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4572000" y="2724912"/>
            <a:ext cx="0" cy="201168"/>
          </a:xfrm>
          <a:prstGeom prst="line">
            <a:avLst/>
          </a:prstGeom>
          <a:noFill/>
          <a:ln w="25400">
            <a:solidFill>
              <a:srgbClr val="5E7472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57200" y="2980944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3504" y="3127248"/>
            <a:ext cx="384048" cy="384048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136392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60704" y="305409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Translation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85216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 · translate · vet</a:t>
            </a:r>
            <a:endParaRPr lang="en-US" sz="830" dirty="0"/>
          </a:p>
        </p:txBody>
      </p:sp>
      <p:sp>
        <p:nvSpPr>
          <p:cNvPr id="25" name="Shape 20"/>
          <p:cNvSpPr/>
          <p:nvPr/>
        </p:nvSpPr>
        <p:spPr>
          <a:xfrm>
            <a:off x="2532888" y="2980944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2679192" y="3127248"/>
            <a:ext cx="384048" cy="384048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76" y="3136392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3136392" y="305409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Diagnostics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2660904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gap-finder · roadmaps</a:t>
            </a:r>
            <a:endParaRPr lang="en-US" sz="830" dirty="0"/>
          </a:p>
        </p:txBody>
      </p:sp>
      <p:sp>
        <p:nvSpPr>
          <p:cNvPr id="30" name="Shape 24"/>
          <p:cNvSpPr/>
          <p:nvPr/>
        </p:nvSpPr>
        <p:spPr>
          <a:xfrm>
            <a:off x="4608576" y="2980944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754880" y="3127248"/>
            <a:ext cx="384048" cy="384048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136392"/>
            <a:ext cx="182880" cy="1828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212080" y="305409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&amp; RAG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4736592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· grievances</a:t>
            </a:r>
            <a:endParaRPr lang="en-US" sz="830" dirty="0"/>
          </a:p>
        </p:txBody>
      </p:sp>
      <p:sp>
        <p:nvSpPr>
          <p:cNvPr id="35" name="Shape 28"/>
          <p:cNvSpPr/>
          <p:nvPr/>
        </p:nvSpPr>
        <p:spPr>
          <a:xfrm>
            <a:off x="6684264" y="2980944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6830568" y="3127248"/>
            <a:ext cx="384048" cy="384048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3136392"/>
            <a:ext cx="182880" cy="18288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287768" y="305409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Incentives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6812280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payouts · NGOs · reels</a:t>
            </a:r>
            <a:endParaRPr lang="en-US" sz="830" dirty="0"/>
          </a:p>
        </p:txBody>
      </p:sp>
      <p:sp>
        <p:nvSpPr>
          <p:cNvPr id="40" name="Shape 32"/>
          <p:cNvSpPr/>
          <p:nvPr/>
        </p:nvSpPr>
        <p:spPr>
          <a:xfrm>
            <a:off x="4572000" y="3977640"/>
            <a:ext cx="0" cy="182880"/>
          </a:xfrm>
          <a:prstGeom prst="line">
            <a:avLst/>
          </a:prstGeom>
          <a:noFill/>
          <a:ln w="25400">
            <a:solidFill>
              <a:srgbClr val="5E7472"/>
            </a:solidFill>
            <a:prstDash val="solid"/>
            <a:tailEnd type="triangle"/>
          </a:ln>
        </p:spPr>
      </p:sp>
      <p:sp>
        <p:nvSpPr>
          <p:cNvPr id="41" name="Shape 33"/>
          <p:cNvSpPr/>
          <p:nvPr/>
        </p:nvSpPr>
        <p:spPr>
          <a:xfrm>
            <a:off x="457200" y="42062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0F3D3E"/>
          </a:solidFill>
          <a:ln/>
        </p:spPr>
      </p:sp>
      <p:sp>
        <p:nvSpPr>
          <p:cNvPr id="42" name="Text 34"/>
          <p:cNvSpPr/>
          <p:nvPr/>
        </p:nvSpPr>
        <p:spPr>
          <a:xfrm>
            <a:off x="640080" y="42062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  </a:t>
            </a:r>
            <a:pPr indent="0" marL="0">
              <a:buNone/>
            </a:pPr>
            <a:r>
              <a:rPr lang="en-US" sz="1050" dirty="0">
                <a:solidFill>
                  <a:srgbClr val="CF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ASR + IndicTrans2  ·  Vector DB (RAG)  ·  Concept graph  ·  UPI payouts  ·  Cloud + CDN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1 — Learn &amp; Earn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· TRANSCRIPTION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world's best free lectures into native-language transcripts — and pay the students who make them.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4692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/>
          <p:nvPr/>
        </p:nvSpPr>
        <p:spPr>
          <a:xfrm>
            <a:off x="964692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30352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30352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&amp; vocational open lectures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901952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157984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65476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2665476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231136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Auto-transcribe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31136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 generates a base transcript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602736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858768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366260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436626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3931920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931920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IndicTrans2 → native-language draft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303520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559552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067044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4"/>
          <p:cNvSpPr/>
          <p:nvPr/>
        </p:nvSpPr>
        <p:spPr>
          <a:xfrm>
            <a:off x="6067044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5632704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vet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32704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students fix + peer-check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7004304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7260336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767828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7767828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333488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pay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33488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learn · UPI micro-payout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BF1DD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822192"/>
            <a:ext cx="310896" cy="310896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88720" y="3639312"/>
            <a:ext cx="73152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works:  </a:t>
            </a:r>
            <a:pPr indent="0" marL="0">
              <a:buNone/>
            </a:pPr>
            <a:r>
              <a:rPr lang="en-US" sz="115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earns while learning, instead of choosing between the two. Every vetted transcript is also documented, credentialed work — a verifiable 'skills passport' they can show employers. AI drafts; humans guarantee the quality.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2 — Gamified Gap-Finder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· DIAGNOSTICS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rarely fail because of today's topic — they fail because of a basic they missed long ago. We find that root gap and close 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4692" y="2020824"/>
            <a:ext cx="402336" cy="402336"/>
          </a:xfrm>
          <a:prstGeom prst="ellipse">
            <a:avLst/>
          </a:prstGeom>
          <a:solidFill>
            <a:srgbClr val="14746F"/>
          </a:solidFill>
          <a:ln/>
        </p:spPr>
      </p:sp>
      <p:sp>
        <p:nvSpPr>
          <p:cNvPr id="9" name="Text 6"/>
          <p:cNvSpPr/>
          <p:nvPr/>
        </p:nvSpPr>
        <p:spPr>
          <a:xfrm>
            <a:off x="964692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30352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30352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adaptive diagnostic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901952" y="2583180"/>
            <a:ext cx="228600" cy="0"/>
          </a:xfrm>
          <a:prstGeom prst="line">
            <a:avLst/>
          </a:prstGeom>
          <a:noFill/>
          <a:ln w="28575">
            <a:solidFill>
              <a:srgbClr val="14746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157984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65476" y="2020824"/>
            <a:ext cx="402336" cy="402336"/>
          </a:xfrm>
          <a:prstGeom prst="ellipse">
            <a:avLst/>
          </a:prstGeom>
          <a:solidFill>
            <a:srgbClr val="14746F"/>
          </a:solidFill>
          <a:ln/>
        </p:spPr>
      </p:sp>
      <p:sp>
        <p:nvSpPr>
          <p:cNvPr id="15" name="Text 12"/>
          <p:cNvSpPr/>
          <p:nvPr/>
        </p:nvSpPr>
        <p:spPr>
          <a:xfrm>
            <a:off x="2665476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231136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concepts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31136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→ prerequisite graph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602736" y="2583180"/>
            <a:ext cx="228600" cy="0"/>
          </a:xfrm>
          <a:prstGeom prst="line">
            <a:avLst/>
          </a:prstGeom>
          <a:noFill/>
          <a:ln w="28575">
            <a:solidFill>
              <a:srgbClr val="14746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858768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366260" y="2020824"/>
            <a:ext cx="402336" cy="402336"/>
          </a:xfrm>
          <a:prstGeom prst="ellipse">
            <a:avLst/>
          </a:prstGeom>
          <a:solidFill>
            <a:srgbClr val="14746F"/>
          </a:solidFill>
          <a:ln/>
        </p:spPr>
      </p:sp>
      <p:sp>
        <p:nvSpPr>
          <p:cNvPr id="21" name="Text 18"/>
          <p:cNvSpPr/>
          <p:nvPr/>
        </p:nvSpPr>
        <p:spPr>
          <a:xfrm>
            <a:off x="436626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3931920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root gap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931920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missing building block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303520" y="2583180"/>
            <a:ext cx="228600" cy="0"/>
          </a:xfrm>
          <a:prstGeom prst="line">
            <a:avLst/>
          </a:prstGeom>
          <a:noFill/>
          <a:ln w="28575">
            <a:solidFill>
              <a:srgbClr val="14746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559552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067044" y="2020824"/>
            <a:ext cx="402336" cy="402336"/>
          </a:xfrm>
          <a:prstGeom prst="ellipse">
            <a:avLst/>
          </a:prstGeom>
          <a:solidFill>
            <a:srgbClr val="14746F"/>
          </a:solidFill>
          <a:ln/>
        </p:spPr>
      </p:sp>
      <p:sp>
        <p:nvSpPr>
          <p:cNvPr id="27" name="Text 24"/>
          <p:cNvSpPr/>
          <p:nvPr/>
        </p:nvSpPr>
        <p:spPr>
          <a:xfrm>
            <a:off x="6067044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5632704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32704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targeted micro-lessons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7004304" y="2583180"/>
            <a:ext cx="228600" cy="0"/>
          </a:xfrm>
          <a:prstGeom prst="line">
            <a:avLst/>
          </a:prstGeom>
          <a:noFill/>
          <a:ln w="28575">
            <a:solidFill>
              <a:srgbClr val="14746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7260336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767828" y="2020824"/>
            <a:ext cx="402336" cy="402336"/>
          </a:xfrm>
          <a:prstGeom prst="ellipse">
            <a:avLst/>
          </a:prstGeom>
          <a:solidFill>
            <a:srgbClr val="14746F"/>
          </a:solidFill>
          <a:ln/>
        </p:spPr>
      </p:sp>
      <p:sp>
        <p:nvSpPr>
          <p:cNvPr id="33" name="Text 30"/>
          <p:cNvSpPr/>
          <p:nvPr/>
        </p:nvSpPr>
        <p:spPr>
          <a:xfrm>
            <a:off x="7767828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333488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re-test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33488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streaks → unlock next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EEF5F4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822192"/>
            <a:ext cx="310896" cy="310896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88720" y="3639312"/>
            <a:ext cx="73152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works:  </a:t>
            </a:r>
            <a:pPr indent="0" marL="0">
              <a:buNone/>
            </a:pPr>
            <a:r>
              <a:rPr lang="en-US" sz="115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generic re-teaching, we pinpoint the one early concept causing the snowball and make fixing it feel like a game. The same engine builds a catch-up 'bridge' roadmap for returnees — students who dropped out and want back in at the right level.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3 — Help &amp; Grievance Chatbot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6 · RAG ASSISTANT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with a problem and no one to ask is a student about to leave. This assistant always has an answer — or a human who does.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4692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/>
          <p:nvPr/>
        </p:nvSpPr>
        <p:spPr>
          <a:xfrm>
            <a:off x="964692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30352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30352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or voice, in any language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901952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157984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65476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2665476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231136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31136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intent + language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602736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858768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366260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436626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3931920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931920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curated knowledge base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303520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559552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067044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4"/>
          <p:cNvSpPr/>
          <p:nvPr/>
        </p:nvSpPr>
        <p:spPr>
          <a:xfrm>
            <a:off x="6067044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5632704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links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32704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reply with real links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7004304" y="2583180"/>
            <a:ext cx="228600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7260336" y="187452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767828" y="2020824"/>
            <a:ext cx="402336" cy="40233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7767828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333488" y="24780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33488" y="285292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Unsolved → NGO / community queue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BF1DD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803904"/>
            <a:ext cx="365760" cy="36576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40080" y="3767328"/>
            <a:ext cx="438912" cy="438912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877056"/>
            <a:ext cx="219456" cy="219456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1234440" y="3639312"/>
            <a:ext cx="72694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base:  </a:t>
            </a:r>
            <a:pPr indent="0" marL="0">
              <a:buNone/>
            </a:pPr>
            <a:r>
              <a:rPr lang="en-US" sz="115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scholarships, government schemes, study resources, counseling and helpline contacts. RAG keeps answers accurate and link-backed — no made-up advice — and unresolved needs get posted for a real person to help.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app: people and place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PILLARS 3 · 4 · 5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keeps a student engaged. People and a safe place keep them enrolled. These three pillars run on partnerships, not just code.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28800"/>
            <a:ext cx="2596896" cy="26517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435608" y="2057400"/>
            <a:ext cx="640080" cy="640080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6" y="221284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2788920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feed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676656" y="320040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Swipeable chapter recaps, 30-second quizzes and scholarship alerts. Shareable, so good content spreads through friend groups the way social media already does.</a:t>
            </a:r>
            <a:endParaRPr lang="en-US" sz="1030" dirty="0"/>
          </a:p>
        </p:txBody>
      </p:sp>
      <p:sp>
        <p:nvSpPr>
          <p:cNvPr id="12" name="Shape 8"/>
          <p:cNvSpPr/>
          <p:nvPr/>
        </p:nvSpPr>
        <p:spPr>
          <a:xfrm>
            <a:off x="3273552" y="1828800"/>
            <a:ext cx="2596896" cy="26517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51960" y="2057400"/>
            <a:ext cx="640080" cy="640080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21284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64992" y="2788920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Bridge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3493008" y="320040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partners run short counseling sessions with families — explaining the long-term payoff of finishing, and how to back their learner instead of pulling them out.</a:t>
            </a:r>
            <a:endParaRPr lang="en-US" sz="1030" dirty="0"/>
          </a:p>
        </p:txBody>
      </p:sp>
      <p:sp>
        <p:nvSpPr>
          <p:cNvPr id="17" name="Shape 12"/>
          <p:cNvSpPr/>
          <p:nvPr/>
        </p:nvSpPr>
        <p:spPr>
          <a:xfrm>
            <a:off x="6089904" y="1828800"/>
            <a:ext cx="2596896" cy="26517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068312" y="2057400"/>
            <a:ext cx="640080" cy="640080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21284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81344" y="2788920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Housing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6309360" y="320040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Tie-ups for affordable hostel and housing access, so a tough or unsafe home doesn't decide a student's future. Learning should not depend on luck of birth.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build it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920240" cy="3063240"/>
          </a:xfrm>
          <a:prstGeom prst="roundRect">
            <a:avLst>
              <a:gd name="adj" fmla="val 3810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33856" y="15910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1728216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03504" y="27432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React Native</a:t>
            </a:r>
            <a:endParaRPr lang="en-US" sz="980" dirty="0"/>
          </a:p>
        </p:txBody>
      </p:sp>
      <p:sp>
        <p:nvSpPr>
          <p:cNvPr id="11" name="Shape 7"/>
          <p:cNvSpPr/>
          <p:nvPr/>
        </p:nvSpPr>
        <p:spPr>
          <a:xfrm>
            <a:off x="868680" y="321868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03504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offline cache</a:t>
            </a:r>
            <a:endParaRPr lang="en-US" sz="980" dirty="0"/>
          </a:p>
        </p:txBody>
      </p:sp>
      <p:sp>
        <p:nvSpPr>
          <p:cNvPr id="13" name="Shape 9"/>
          <p:cNvSpPr/>
          <p:nvPr/>
        </p:nvSpPr>
        <p:spPr>
          <a:xfrm>
            <a:off x="868680" y="372160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03504" y="37490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Low-data 'lite' mode</a:t>
            </a:r>
            <a:endParaRPr lang="en-US" sz="980" dirty="0"/>
          </a:p>
        </p:txBody>
      </p:sp>
      <p:sp>
        <p:nvSpPr>
          <p:cNvPr id="15" name="Shape 11"/>
          <p:cNvSpPr/>
          <p:nvPr/>
        </p:nvSpPr>
        <p:spPr>
          <a:xfrm>
            <a:off x="2532888" y="1371600"/>
            <a:ext cx="1920240" cy="3063240"/>
          </a:xfrm>
          <a:prstGeom prst="roundRect">
            <a:avLst>
              <a:gd name="adj" fmla="val 3810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9544" y="1591056"/>
            <a:ext cx="566928" cy="566928"/>
          </a:xfrm>
          <a:prstGeom prst="ellipse">
            <a:avLst/>
          </a:prstGeom>
          <a:solidFill>
            <a:srgbClr val="14746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72821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532888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language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2679192" y="27432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ASR (IndicWhisper)</a:t>
            </a:r>
            <a:endParaRPr lang="en-US" sz="980" dirty="0"/>
          </a:p>
        </p:txBody>
      </p:sp>
      <p:sp>
        <p:nvSpPr>
          <p:cNvPr id="20" name="Shape 15"/>
          <p:cNvSpPr/>
          <p:nvPr/>
        </p:nvSpPr>
        <p:spPr>
          <a:xfrm>
            <a:off x="2944368" y="321868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679192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IndicTrans2 translation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2944368" y="372160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79192" y="37490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embeddings for RAG</a:t>
            </a:r>
            <a:endParaRPr lang="en-US" sz="980" dirty="0"/>
          </a:p>
        </p:txBody>
      </p:sp>
      <p:sp>
        <p:nvSpPr>
          <p:cNvPr id="24" name="Shape 19"/>
          <p:cNvSpPr/>
          <p:nvPr/>
        </p:nvSpPr>
        <p:spPr>
          <a:xfrm>
            <a:off x="4608576" y="1371600"/>
            <a:ext cx="1920240" cy="3063240"/>
          </a:xfrm>
          <a:prstGeom prst="roundRect">
            <a:avLst>
              <a:gd name="adj" fmla="val 3810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285232" y="1591056"/>
            <a:ext cx="566928" cy="566928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392" y="1728216"/>
            <a:ext cx="292608" cy="29260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608576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logic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4754880" y="27432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980" dirty="0"/>
          </a:p>
        </p:txBody>
      </p:sp>
      <p:sp>
        <p:nvSpPr>
          <p:cNvPr id="29" name="Shape 23"/>
          <p:cNvSpPr/>
          <p:nvPr/>
        </p:nvSpPr>
        <p:spPr>
          <a:xfrm>
            <a:off x="5020056" y="321868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5488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(Chroma / FAISS)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0056" y="372160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4754880" y="37490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concept graph</a:t>
            </a:r>
            <a:endParaRPr lang="en-US" sz="980" dirty="0"/>
          </a:p>
        </p:txBody>
      </p:sp>
      <p:sp>
        <p:nvSpPr>
          <p:cNvPr id="33" name="Shape 27"/>
          <p:cNvSpPr/>
          <p:nvPr/>
        </p:nvSpPr>
        <p:spPr>
          <a:xfrm>
            <a:off x="6684264" y="1371600"/>
            <a:ext cx="1920240" cy="3063240"/>
          </a:xfrm>
          <a:prstGeom prst="roundRect">
            <a:avLst>
              <a:gd name="adj" fmla="val 3810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7360920" y="1591056"/>
            <a:ext cx="566928" cy="566928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1728216"/>
            <a:ext cx="292608" cy="29260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684264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money</a:t>
            </a:r>
            <a:endParaRPr lang="en-US" sz="1350" dirty="0"/>
          </a:p>
        </p:txBody>
      </p:sp>
      <p:sp>
        <p:nvSpPr>
          <p:cNvPr id="37" name="Text 30"/>
          <p:cNvSpPr/>
          <p:nvPr/>
        </p:nvSpPr>
        <p:spPr>
          <a:xfrm>
            <a:off x="6830568" y="27432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Phone-OTP auth</a:t>
            </a:r>
            <a:endParaRPr lang="en-US" sz="980" dirty="0"/>
          </a:p>
        </p:txBody>
      </p:sp>
      <p:sp>
        <p:nvSpPr>
          <p:cNvPr id="38" name="Shape 31"/>
          <p:cNvSpPr/>
          <p:nvPr/>
        </p:nvSpPr>
        <p:spPr>
          <a:xfrm>
            <a:off x="7095744" y="321868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830568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KYC for payouts</a:t>
            </a:r>
            <a:endParaRPr lang="en-US" sz="980" dirty="0"/>
          </a:p>
        </p:txBody>
      </p:sp>
      <p:sp>
        <p:nvSpPr>
          <p:cNvPr id="40" name="Shape 33"/>
          <p:cNvSpPr/>
          <p:nvPr/>
        </p:nvSpPr>
        <p:spPr>
          <a:xfrm>
            <a:off x="7095744" y="3721608"/>
            <a:ext cx="1097280" cy="0"/>
          </a:xfrm>
          <a:prstGeom prst="line">
            <a:avLst/>
          </a:prstGeom>
          <a:noFill/>
          <a:ln w="12700">
            <a:solidFill>
              <a:srgbClr val="D5E4E1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6830568" y="37490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micro-payments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build this weekend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— STAYING REALISTIC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ship all six pillars in a hackathon — so we'll build a working core that proves the idea, and pitch the rest as the roadmap.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5F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19385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DEMO NOW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3317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Gap-Finder: diagnostic → root gap → roadmap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85800" y="286207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 seeded with real scholarships &amp; schemes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339242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demo: 1 lecture → ASR → translate → review UI → mock payout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392277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feed prototype with sample quiz cards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FBF1D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92040" y="19385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30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AS ROADMAP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92040" y="23317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UPI payouts &amp; translator verification at scale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92040" y="286207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partnerships for family counseling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339242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 housing / hostel tie-ups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92040" y="392277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F2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 &amp; government-scheme integrations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to real impact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70432" y="8778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7498080" cy="0"/>
          </a:xfrm>
          <a:prstGeom prst="line">
            <a:avLst/>
          </a:prstGeom>
          <a:noFill/>
          <a:ln w="31750">
            <a:solidFill>
              <a:srgbClr val="CBD9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33856" y="2139696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8" name="Shape 5"/>
          <p:cNvSpPr/>
          <p:nvPr/>
        </p:nvSpPr>
        <p:spPr>
          <a:xfrm>
            <a:off x="1280160" y="1965960"/>
            <a:ext cx="0" cy="173736"/>
          </a:xfrm>
          <a:prstGeom prst="line">
            <a:avLst/>
          </a:prstGeom>
          <a:noFill/>
          <a:ln w="19050">
            <a:solidFill>
              <a:srgbClr val="2A9D8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040" y="868680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" y="960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0040" y="1216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MVP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93192" y="14904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Gap-Finder, RAG chatbot, transcription demo &amp; reels prototype.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8416" y="2139696"/>
            <a:ext cx="292608" cy="292608"/>
          </a:xfrm>
          <a:prstGeom prst="ellipse">
            <a:avLst/>
          </a:prstGeom>
          <a:solidFill>
            <a:srgbClr val="14746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2432304"/>
            <a:ext cx="0" cy="265176"/>
          </a:xfrm>
          <a:prstGeom prst="line">
            <a:avLst/>
          </a:prstGeom>
          <a:noFill/>
          <a:ln w="19050">
            <a:solidFill>
              <a:srgbClr val="14746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14600" y="2697480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2514600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74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mo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14600" y="30449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2587752" y="3319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with 1–2 colleges + an NGO. Seed content in 2 languages, switch on real payouts.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22976" y="2139696"/>
            <a:ext cx="292608" cy="292608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0" name="Shape 17"/>
          <p:cNvSpPr/>
          <p:nvPr/>
        </p:nvSpPr>
        <p:spPr>
          <a:xfrm>
            <a:off x="5669280" y="1965960"/>
            <a:ext cx="0" cy="173736"/>
          </a:xfrm>
          <a:prstGeom prst="line">
            <a:avLst/>
          </a:prstGeom>
          <a:noFill/>
          <a:ln w="19050">
            <a:solidFill>
              <a:srgbClr val="E9A23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09160" y="868680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09160" y="960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3–9 mo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709160" y="1216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782312" y="14904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languages &amp; lectures, onboard NGOs for counseling, plug in scholarship data.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717536" y="2139696"/>
            <a:ext cx="292608" cy="29260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0" y="2432304"/>
            <a:ext cx="0" cy="265176"/>
          </a:xfrm>
          <a:prstGeom prst="line">
            <a:avLst/>
          </a:prstGeom>
          <a:noFill/>
          <a:ln w="19050">
            <a:solidFill>
              <a:srgbClr val="E76F5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903720" y="2697480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DE8E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903720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 +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03720" y="30449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976872" y="3319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7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tie-ups, CSR &amp; government funding, multi-state rollout.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91840"/>
            <a:ext cx="2743200" cy="2743200"/>
          </a:xfrm>
          <a:prstGeom prst="ellipse">
            <a:avLst/>
          </a:prstGeom>
          <a:solidFill>
            <a:srgbClr val="14746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-822960"/>
            <a:ext cx="2377440" cy="2377440"/>
          </a:xfrm>
          <a:prstGeom prst="ellipse">
            <a:avLst/>
          </a:prstGeom>
          <a:solidFill>
            <a:srgbClr val="E9A23B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6217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RootED works</a:t>
            </a:r>
            <a:endParaRPr lang="en-US" sz="3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76272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2148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root causes — money, language, gaps and home — not just content.</a:t>
            </a:r>
            <a:endParaRPr lang="en-US" sz="13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919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0120" y="26517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Native-language first, mobile-first, built for low bandwidth.</a:t>
            </a:r>
            <a:endParaRPr lang="en-US" sz="13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182112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3154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Earn-while-you-learn breaks the 'drop out to earn' trap.</a:t>
            </a:r>
            <a:endParaRPr lang="en-US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685032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60120" y="3657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the heavy lifting; people and NGOs build the trust.</a:t>
            </a:r>
            <a:endParaRPr lang="en-US" sz="1350" dirty="0"/>
          </a:p>
        </p:txBody>
      </p:sp>
      <p:sp>
        <p:nvSpPr>
          <p:cNvPr id="15" name="Shape 8"/>
          <p:cNvSpPr/>
          <p:nvPr/>
        </p:nvSpPr>
        <p:spPr>
          <a:xfrm>
            <a:off x="548640" y="4370832"/>
            <a:ext cx="1828800" cy="566928"/>
          </a:xfrm>
          <a:prstGeom prst="roundRect">
            <a:avLst>
              <a:gd name="adj" fmla="val 9677"/>
            </a:avLst>
          </a:prstGeom>
          <a:solidFill>
            <a:srgbClr val="14746F">
              <a:alpha val="75000"/>
            </a:srgbClr>
          </a:solidFill>
          <a:ln/>
        </p:spPr>
      </p:sp>
      <p:sp>
        <p:nvSpPr>
          <p:cNvPr id="16" name="Text 9"/>
          <p:cNvSpPr/>
          <p:nvPr/>
        </p:nvSpPr>
        <p:spPr>
          <a:xfrm>
            <a:off x="658368" y="43708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 </a:t>
            </a:r>
            <a:pPr indent="0" marL="0">
              <a:buNone/>
            </a:pPr>
            <a:r>
              <a:rPr lang="en-US" sz="900" dirty="0">
                <a:solidFill>
                  <a:srgbClr val="A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dropouts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2560320" y="4370832"/>
            <a:ext cx="1828800" cy="566928"/>
          </a:xfrm>
          <a:prstGeom prst="roundRect">
            <a:avLst>
              <a:gd name="adj" fmla="val 9677"/>
            </a:avLst>
          </a:prstGeom>
          <a:solidFill>
            <a:srgbClr val="14746F">
              <a:alpha val="75000"/>
            </a:srgbClr>
          </a:solidFill>
          <a:ln/>
        </p:spPr>
      </p:sp>
      <p:sp>
        <p:nvSpPr>
          <p:cNvPr id="18" name="Text 11"/>
          <p:cNvSpPr/>
          <p:nvPr/>
        </p:nvSpPr>
        <p:spPr>
          <a:xfrm>
            <a:off x="2670048" y="43708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 </a:t>
            </a:r>
            <a:pPr indent="0" marL="0">
              <a:buNone/>
            </a:pPr>
            <a:r>
              <a:rPr lang="en-US" sz="900" dirty="0">
                <a:solidFill>
                  <a:srgbClr val="A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gains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572000" y="4370832"/>
            <a:ext cx="1828800" cy="566928"/>
          </a:xfrm>
          <a:prstGeom prst="roundRect">
            <a:avLst>
              <a:gd name="adj" fmla="val 9677"/>
            </a:avLst>
          </a:prstGeom>
          <a:solidFill>
            <a:srgbClr val="14746F">
              <a:alpha val="75000"/>
            </a:srgbClr>
          </a:solidFill>
          <a:ln/>
        </p:spPr>
      </p:sp>
      <p:sp>
        <p:nvSpPr>
          <p:cNvPr id="20" name="Text 13"/>
          <p:cNvSpPr/>
          <p:nvPr/>
        </p:nvSpPr>
        <p:spPr>
          <a:xfrm>
            <a:off x="4681728" y="43708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earned  </a:t>
            </a:r>
            <a:pPr indent="0" marL="0">
              <a:buNone/>
            </a:pPr>
            <a:r>
              <a:rPr lang="en-US" sz="900" dirty="0">
                <a:solidFill>
                  <a:srgbClr val="A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students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583680" y="4370832"/>
            <a:ext cx="1828800" cy="566928"/>
          </a:xfrm>
          <a:prstGeom prst="roundRect">
            <a:avLst>
              <a:gd name="adj" fmla="val 9677"/>
            </a:avLst>
          </a:prstGeom>
          <a:solidFill>
            <a:srgbClr val="14746F">
              <a:alpha val="75000"/>
            </a:srgbClr>
          </a:solidFill>
          <a:ln/>
        </p:spPr>
      </p:sp>
      <p:sp>
        <p:nvSpPr>
          <p:cNvPr id="22" name="Text 15"/>
          <p:cNvSpPr/>
          <p:nvPr/>
        </p:nvSpPr>
        <p:spPr>
          <a:xfrm>
            <a:off x="6693408" y="43708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 </a:t>
            </a:r>
            <a:pPr indent="0" marL="0">
              <a:buNone/>
            </a:pPr>
            <a:r>
              <a:rPr lang="en-US" sz="900" dirty="0">
                <a:solidFill>
                  <a:srgbClr val="A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grievances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12648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RootED  ·  Team RootED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RootED — Hackathon Idea Submission</dc:title>
  <dc:subject>PptxGenJS Presentation</dc:subject>
  <dc:creator>Team RootED</dc:creator>
  <cp:lastModifiedBy>Team RootED</cp:lastModifiedBy>
  <cp:revision>1</cp:revision>
  <dcterms:created xsi:type="dcterms:W3CDTF">2026-06-30T12:16:43Z</dcterms:created>
  <dcterms:modified xsi:type="dcterms:W3CDTF">2026-06-30T12:16:43Z</dcterms:modified>
</cp:coreProperties>
</file>