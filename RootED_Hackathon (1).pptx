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4.png" ContentType="image/png"/>
  <Override PartName="/ppt/media/image1.png" ContentType="image/png"/>
  <Override PartName="/ppt/media/image31.png" ContentType="image/png"/>
  <Override PartName="/ppt/media/image25.png" ContentType="image/png"/>
  <Override PartName="/ppt/media/image2.png" ContentType="image/png"/>
  <Override PartName="/ppt/media/image32.png" ContentType="image/png"/>
  <Override PartName="/ppt/media/image26.png" ContentType="image/png"/>
  <Override PartName="/ppt/media/image3.png" ContentType="image/png"/>
  <Override PartName="/ppt/media/image33.png" ContentType="image/png"/>
  <Override PartName="/ppt/media/image27.png" ContentType="image/png"/>
  <Override PartName="/ppt/media/image13.png" ContentType="image/png"/>
  <Override PartName="/ppt/media/image50.png" ContentType="image/png"/>
  <Override PartName="/ppt/media/image40.png" ContentType="image/png"/>
  <Override PartName="/ppt/media/image4.png" ContentType="image/png"/>
  <Override PartName="/ppt/media/image34.png" ContentType="image/png"/>
  <Override PartName="/ppt/media/image41.png" ContentType="image/png"/>
  <Override PartName="/ppt/media/image9.png" ContentType="image/png"/>
  <Override PartName="/ppt/media/image39.png" ContentType="image/png"/>
  <Override PartName="/ppt/media/image30.png" ContentType="image/png"/>
  <Override PartName="/ppt/media/image28.png" ContentType="image/png"/>
  <Override PartName="/ppt/media/image42.png" ContentType="image/png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8.png" ContentType="image/png"/>
  <Override PartName="/ppt/media/image11.png" ContentType="image/png"/>
  <Override PartName="/ppt/media/image38.png" ContentType="image/png"/>
  <Override PartName="/ppt/media/image8.png" ContentType="image/png"/>
  <Override PartName="/ppt/media/image49.png" ContentType="image/png"/>
  <Override PartName="/ppt/media/image12.png" ContentType="image/png"/>
  <Override PartName="/ppt/media/image10.png" ContentType="image/png"/>
  <Override PartName="/ppt/media/image47.png" ContentType="image/png"/>
  <Override PartName="/ppt/media/image37.png" ContentType="image/png"/>
  <Override PartName="/ppt/media/image7.png" ContentType="image/png"/>
  <Override PartName="/ppt/media/image36.png" ContentType="image/png"/>
  <Override PartName="/ppt/media/image6.png" ContentType="image/png"/>
  <Override PartName="/ppt/media/image29.png" ContentType="image/png"/>
  <Override PartName="/ppt/media/image5.png" ContentType="image/png"/>
  <Override PartName="/ppt/media/image35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C2CD53F8-8A8D-4542-B362-A941A51617DB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One-line pitch: RootED keeps first-generation learners in school by removing the real barriers to staying — not just adding more lectures. Mention this is an ecosystem of 6 connected pillars, with 3 software pipelines we can demo today. (RootED is a working name — swap in your team's name.)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212C842-B364-45A8-896C-3148BADE124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Frame the user, not the feature. The key insight judges should remember: dropping out is rarely one big event — it's many small unaddressed barriers stacking up. Our six pillars each remove one of these.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678F666-DF56-41AB-879D-EC44012F0F7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This is the heart of the pitch. Read a couple of rows out loud as 'student says X -&gt; RootED does Y'. It shows we designed backwards from real student pain, not forwards from a cool tech demo.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A9F6872-511C-4ACD-AB7F-87DF5D8AA2A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Quick tour of all six. Then signal what's next: 'The first three are software pipelines we can build and demo this weekend — let me show you how each one works.' That sets up the next three slides.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DC9513F-C739-49E4-A8E5-B272BF7A30E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Your theme-fit scorecard — judges score against these exact five bullets. Stress that we deliberately cover all five, including 'vocational skill documentation' (the skills passport) and 'bridge learning for returnees' (Gap-Finder catch-up roadmaps), which a content-only platform would miss. The two gold rows are the ones most submissions forget.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665AC63-7AAB-428C-A7A2-CAE5E103697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Read it top to bottom: four kinds of users -&gt; one simple app -&gt; four engines doing the work -&gt; shared foundations. Highlight that AI4Bharat's Indic models (built at IIT Madras) give us strong native-language ASR and translation for free.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E615081-FEBD-4336-B602-4A19C665E8F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This is the most novel pillar — call it out. The 'earn' part directly attacks the money pressure that pushes first-gen students out. AI-first-draft + human-vetting keeps quality high and costs low.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F96C83E-DC1A-48FF-A3CA-8FB235DBF55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Key phrase: 'find the root, not the symptom.' The concept/prerequisite graph is what makes this smarter than a quiz app — answering wrong on topic C points us back to the missing basic A.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6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95A18EF-DB1C-4FAA-8BCF-72D5B90470D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Stress 'grounded' — RAG means every answer is backed by a real document and link, which matters when you're advising vulnerable students about money and schemes. The escalation path is what builds trust: the bot never just says 'I don't know.'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AA820C3-108C-45A4-A223-43CF3517C41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Be honest here: these aren't weekend-buildable software features — they're partnership and operations work. Including them shows judges we understand the problem is bigger than an app, which is exactly why holistic beats yet-another-content-platform.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DD24C6F-B7C2-4E56-A1E5-C8D90DE2C24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Emphasise that we're standing on strong open shoulders — AI4Bharat handles the hard Indic-language ML so we focus on the product. Everything here is open-source or low-cost, which matters for a non-profit-leaning platform.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6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08BB0CB-84A3-443F-B7C3-4E3D38A41B8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Judges reward focus. Saying clearly 'here's what we'll actually demo vs. what needs partnerships' shows maturity. The MVP is all software we control; the roadmap items need real-world partners and money.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2BE4F15-D88E-40BE-8F1E-E2930D9831F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Close on the four reasons and the metrics we'd track in a pilot. Final line to say out loud: 'We're not adding another place to watch lectures — we're removing the reasons students stop watching at all.'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F61C2AB-59EB-456E-A7E4-43E4F84AF4A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7498080" y="-914400"/>
            <a:ext cx="2925720" cy="2925720"/>
          </a:xfrm>
          <a:prstGeom prst="ellipse">
            <a:avLst/>
          </a:prstGeom>
          <a:solidFill>
            <a:srgbClr val="14746f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8229600" y="3108960"/>
            <a:ext cx="2194200" cy="2194200"/>
          </a:xfrm>
          <a:prstGeom prst="ellipse">
            <a:avLst/>
          </a:prstGeom>
          <a:solidFill>
            <a:srgbClr val="e9a23b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2"/>
          <p:cNvSpPr/>
          <p:nvPr/>
        </p:nvSpPr>
        <p:spPr>
          <a:xfrm>
            <a:off x="548640" y="603360"/>
            <a:ext cx="868320" cy="868320"/>
          </a:xfrm>
          <a:prstGeom prst="ellipse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7" name="Image 0" descr="preencoded.png"/>
          <p:cNvPicPr/>
          <p:nvPr/>
        </p:nvPicPr>
        <p:blipFill>
          <a:blip r:embed="rId1"/>
          <a:stretch/>
        </p:blipFill>
        <p:spPr>
          <a:xfrm>
            <a:off x="768240" y="822960"/>
            <a:ext cx="429480" cy="429480"/>
          </a:xfrm>
          <a:prstGeom prst="rect">
            <a:avLst/>
          </a:prstGeom>
          <a:ln w="0">
            <a:noFill/>
          </a:ln>
        </p:spPr>
      </p:pic>
      <p:sp>
        <p:nvSpPr>
          <p:cNvPr id="48" name="Text 3"/>
          <p:cNvSpPr/>
          <p:nvPr/>
        </p:nvSpPr>
        <p:spPr>
          <a:xfrm>
            <a:off x="548640" y="1737360"/>
            <a:ext cx="73148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6000" spc="-1" strike="noStrike">
                <a:solidFill>
                  <a:srgbClr val="ffffff"/>
                </a:solidFill>
                <a:latin typeface="Cambria"/>
                <a:ea typeface="Cambria"/>
              </a:rPr>
              <a:t>RootED</a:t>
            </a:r>
            <a:endParaRPr b="0" lang="en-IN" sz="6000" spc="-1" strike="noStrike">
              <a:latin typeface="Arial"/>
            </a:endParaRPr>
          </a:p>
        </p:txBody>
      </p:sp>
      <p:sp>
        <p:nvSpPr>
          <p:cNvPr id="49" name="Text 4"/>
          <p:cNvSpPr/>
          <p:nvPr/>
        </p:nvSpPr>
        <p:spPr>
          <a:xfrm>
            <a:off x="567000" y="2697480"/>
            <a:ext cx="7497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cfe6e2"/>
                </a:solidFill>
                <a:latin typeface="Calibri"/>
                <a:ea typeface="Calibri"/>
              </a:rPr>
              <a:t>Keeping first-generation learners in the classroom.</a:t>
            </a:r>
            <a:endParaRPr b="0" lang="en-IN" sz="1900" spc="-1" strike="noStrike">
              <a:latin typeface="Arial"/>
            </a:endParaRPr>
          </a:p>
        </p:txBody>
      </p:sp>
      <p:sp>
        <p:nvSpPr>
          <p:cNvPr id="50" name="Text 5"/>
          <p:cNvSpPr/>
          <p:nvPr/>
        </p:nvSpPr>
        <p:spPr>
          <a:xfrm>
            <a:off x="567000" y="3200400"/>
            <a:ext cx="6949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9fc4bf"/>
                </a:solidFill>
                <a:latin typeface="Calibri"/>
                <a:ea typeface="Calibri"/>
              </a:rPr>
              <a:t>A holistic learn-and-stay ecosystem that tackles the real reasons students drop out — language, money, learning gaps, and what's happening at home.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51" name="Text 6"/>
          <p:cNvSpPr/>
          <p:nvPr/>
        </p:nvSpPr>
        <p:spPr>
          <a:xfrm>
            <a:off x="567000" y="43707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199" strike="noStrike">
                <a:solidFill>
                  <a:srgbClr val="e9a23b"/>
                </a:solidFill>
                <a:latin typeface="Calibri"/>
                <a:ea typeface="Calibri"/>
              </a:rPr>
              <a:t>HACKATHON IDEA SUBMISSION   ·   TEAM ROOTED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0"/>
          <p:cNvSpPr/>
          <p:nvPr/>
        </p:nvSpPr>
        <p:spPr>
          <a:xfrm>
            <a:off x="457200" y="384120"/>
            <a:ext cx="566640" cy="566640"/>
          </a:xfrm>
          <a:prstGeom prst="ellipse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3" name="Image 0" descr="preencoded.png"/>
          <p:cNvPicPr/>
          <p:nvPr/>
        </p:nvPicPr>
        <p:blipFill>
          <a:blip r:embed="rId1"/>
          <a:stretch/>
        </p:blipFill>
        <p:spPr>
          <a:xfrm>
            <a:off x="585360" y="5119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54" name="Text 1"/>
          <p:cNvSpPr/>
          <p:nvPr/>
        </p:nvSpPr>
        <p:spPr>
          <a:xfrm>
            <a:off x="1170360" y="365760"/>
            <a:ext cx="7497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0f3d3e"/>
                </a:solidFill>
                <a:latin typeface="Cambria"/>
                <a:ea typeface="Cambria"/>
              </a:rPr>
              <a:t>Why first-generation learners drop out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55" name="Text 2"/>
          <p:cNvSpPr/>
          <p:nvPr/>
        </p:nvSpPr>
        <p:spPr>
          <a:xfrm>
            <a:off x="1170360" y="87768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199" strike="noStrike">
                <a:solidFill>
                  <a:srgbClr val="2a9d8f"/>
                </a:solidFill>
                <a:latin typeface="Calibri"/>
                <a:ea typeface="Calibri"/>
              </a:rPr>
              <a:t>THE PROBLEM WE'RE SOLVING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56" name="Text 3"/>
          <p:cNvSpPr/>
          <p:nvPr/>
        </p:nvSpPr>
        <p:spPr>
          <a:xfrm>
            <a:off x="457200" y="12070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f2d2e"/>
                </a:solidFill>
                <a:latin typeface="Calibri"/>
                <a:ea typeface="Calibri"/>
              </a:rPr>
              <a:t>They're often the first in their family to study this far. When they hit a wall, there's no one at home who has been there before — so small problems quietly snowball into dropping out.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7" name="Shape 4"/>
          <p:cNvSpPr/>
          <p:nvPr/>
        </p:nvSpPr>
        <p:spPr>
          <a:xfrm>
            <a:off x="457200" y="1874520"/>
            <a:ext cx="2733840" cy="1416960"/>
          </a:xfrm>
          <a:prstGeom prst="roundRect">
            <a:avLst>
              <a:gd name="adj" fmla="val 4516"/>
            </a:avLst>
          </a:prstGeom>
          <a:solidFill>
            <a:srgbClr val="eef5f4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8" name="Shape 5"/>
          <p:cNvSpPr/>
          <p:nvPr/>
        </p:nvSpPr>
        <p:spPr>
          <a:xfrm>
            <a:off x="621720" y="2057400"/>
            <a:ext cx="456840" cy="456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76f5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59" name="Image 1" descr="preencoded.png"/>
          <p:cNvPicPr/>
          <p:nvPr/>
        </p:nvPicPr>
        <p:blipFill>
          <a:blip r:embed="rId2"/>
          <a:stretch/>
        </p:blipFill>
        <p:spPr>
          <a:xfrm>
            <a:off x="722520" y="215784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60" name="Text 6"/>
          <p:cNvSpPr/>
          <p:nvPr/>
        </p:nvSpPr>
        <p:spPr>
          <a:xfrm>
            <a:off x="1188720" y="2057400"/>
            <a:ext cx="1874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3d3e"/>
                </a:solidFill>
                <a:latin typeface="Calibri"/>
                <a:ea typeface="Calibri"/>
              </a:rPr>
              <a:t>Money pressure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1" name="Text 7"/>
          <p:cNvSpPr/>
          <p:nvPr/>
        </p:nvSpPr>
        <p:spPr>
          <a:xfrm>
            <a:off x="640080" y="2587680"/>
            <a:ext cx="2377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e7472"/>
                </a:solidFill>
                <a:latin typeface="Calibri"/>
                <a:ea typeface="Calibri"/>
              </a:rPr>
              <a:t>Family needs them to earn now, not study for a far-off payoff.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62" name="Shape 8"/>
          <p:cNvSpPr/>
          <p:nvPr/>
        </p:nvSpPr>
        <p:spPr>
          <a:xfrm>
            <a:off x="3355920" y="1874520"/>
            <a:ext cx="2733840" cy="1416960"/>
          </a:xfrm>
          <a:prstGeom prst="roundRect">
            <a:avLst>
              <a:gd name="adj" fmla="val 4516"/>
            </a:avLst>
          </a:prstGeom>
          <a:solidFill>
            <a:srgbClr val="eef5f4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3" name="Shape 9"/>
          <p:cNvSpPr/>
          <p:nvPr/>
        </p:nvSpPr>
        <p:spPr>
          <a:xfrm>
            <a:off x="3520440" y="2057400"/>
            <a:ext cx="456840" cy="456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76f5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64" name="Image 2" descr="preencoded.png"/>
          <p:cNvPicPr/>
          <p:nvPr/>
        </p:nvPicPr>
        <p:blipFill>
          <a:blip r:embed="rId3"/>
          <a:stretch/>
        </p:blipFill>
        <p:spPr>
          <a:xfrm>
            <a:off x="3620880" y="215784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65" name="Text 10"/>
          <p:cNvSpPr/>
          <p:nvPr/>
        </p:nvSpPr>
        <p:spPr>
          <a:xfrm>
            <a:off x="4087440" y="2057400"/>
            <a:ext cx="1874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3d3e"/>
                </a:solidFill>
                <a:latin typeface="Calibri"/>
                <a:ea typeface="Calibri"/>
              </a:rPr>
              <a:t>Language barrier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6" name="Text 11"/>
          <p:cNvSpPr/>
          <p:nvPr/>
        </p:nvSpPr>
        <p:spPr>
          <a:xfrm>
            <a:off x="3538800" y="2587680"/>
            <a:ext cx="2377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e7472"/>
                </a:solidFill>
                <a:latin typeface="Calibri"/>
                <a:ea typeface="Calibri"/>
              </a:rPr>
              <a:t>Best lectures are in English; concepts get lost in translation.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67" name="Shape 12"/>
          <p:cNvSpPr/>
          <p:nvPr/>
        </p:nvSpPr>
        <p:spPr>
          <a:xfrm>
            <a:off x="6254640" y="1874520"/>
            <a:ext cx="2733840" cy="1416960"/>
          </a:xfrm>
          <a:prstGeom prst="roundRect">
            <a:avLst>
              <a:gd name="adj" fmla="val 4516"/>
            </a:avLst>
          </a:prstGeom>
          <a:solidFill>
            <a:srgbClr val="eef5f4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8" name="Shape 13"/>
          <p:cNvSpPr/>
          <p:nvPr/>
        </p:nvSpPr>
        <p:spPr>
          <a:xfrm>
            <a:off x="6419160" y="2057400"/>
            <a:ext cx="456840" cy="456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76f5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69" name="Image 3" descr="preencoded.png"/>
          <p:cNvPicPr/>
          <p:nvPr/>
        </p:nvPicPr>
        <p:blipFill>
          <a:blip r:embed="rId4"/>
          <a:stretch/>
        </p:blipFill>
        <p:spPr>
          <a:xfrm>
            <a:off x="6519600" y="215784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70" name="Text 14"/>
          <p:cNvSpPr/>
          <p:nvPr/>
        </p:nvSpPr>
        <p:spPr>
          <a:xfrm>
            <a:off x="6986160" y="2057400"/>
            <a:ext cx="1874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3d3e"/>
                </a:solidFill>
                <a:latin typeface="Calibri"/>
                <a:ea typeface="Calibri"/>
              </a:rPr>
              <a:t>Compounding gaps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1" name="Text 15"/>
          <p:cNvSpPr/>
          <p:nvPr/>
        </p:nvSpPr>
        <p:spPr>
          <a:xfrm>
            <a:off x="6437520" y="2587680"/>
            <a:ext cx="2377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e7472"/>
                </a:solidFill>
                <a:latin typeface="Calibri"/>
                <a:ea typeface="Calibri"/>
              </a:rPr>
              <a:t>One missed basic makes every later topic feel impossible.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2" name="Shape 16"/>
          <p:cNvSpPr/>
          <p:nvPr/>
        </p:nvSpPr>
        <p:spPr>
          <a:xfrm>
            <a:off x="457200" y="3429000"/>
            <a:ext cx="2733840" cy="1416960"/>
          </a:xfrm>
          <a:prstGeom prst="roundRect">
            <a:avLst>
              <a:gd name="adj" fmla="val 4516"/>
            </a:avLst>
          </a:prstGeom>
          <a:solidFill>
            <a:srgbClr val="eef5f4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3" name="Shape 17"/>
          <p:cNvSpPr/>
          <p:nvPr/>
        </p:nvSpPr>
        <p:spPr>
          <a:xfrm>
            <a:off x="621720" y="3611880"/>
            <a:ext cx="456840" cy="456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76f5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74" name="Image 4" descr="preencoded.png"/>
          <p:cNvPicPr/>
          <p:nvPr/>
        </p:nvPicPr>
        <p:blipFill>
          <a:blip r:embed="rId5"/>
          <a:stretch/>
        </p:blipFill>
        <p:spPr>
          <a:xfrm>
            <a:off x="722520" y="371232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75" name="Text 18"/>
          <p:cNvSpPr/>
          <p:nvPr/>
        </p:nvSpPr>
        <p:spPr>
          <a:xfrm>
            <a:off x="1188720" y="3611880"/>
            <a:ext cx="1874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3d3e"/>
                </a:solidFill>
                <a:latin typeface="Calibri"/>
                <a:ea typeface="Calibri"/>
              </a:rPr>
              <a:t>Unstable home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6" name="Text 19"/>
          <p:cNvSpPr/>
          <p:nvPr/>
        </p:nvSpPr>
        <p:spPr>
          <a:xfrm>
            <a:off x="640080" y="4142160"/>
            <a:ext cx="2377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e7472"/>
                </a:solidFill>
                <a:latin typeface="Calibri"/>
                <a:ea typeface="Calibri"/>
              </a:rPr>
              <a:t>No quiet space, no guidance, sometimes a hostile environment.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7" name="Shape 20"/>
          <p:cNvSpPr/>
          <p:nvPr/>
        </p:nvSpPr>
        <p:spPr>
          <a:xfrm>
            <a:off x="3355920" y="3429000"/>
            <a:ext cx="2733840" cy="1416960"/>
          </a:xfrm>
          <a:prstGeom prst="roundRect">
            <a:avLst>
              <a:gd name="adj" fmla="val 4516"/>
            </a:avLst>
          </a:prstGeom>
          <a:solidFill>
            <a:srgbClr val="eef5f4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8" name="Shape 21"/>
          <p:cNvSpPr/>
          <p:nvPr/>
        </p:nvSpPr>
        <p:spPr>
          <a:xfrm>
            <a:off x="3520440" y="3611880"/>
            <a:ext cx="456840" cy="456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76f5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79" name="Image 5" descr="preencoded.png"/>
          <p:cNvPicPr/>
          <p:nvPr/>
        </p:nvPicPr>
        <p:blipFill>
          <a:blip r:embed="rId6"/>
          <a:stretch/>
        </p:blipFill>
        <p:spPr>
          <a:xfrm>
            <a:off x="3620880" y="371232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80" name="Text 22"/>
          <p:cNvSpPr/>
          <p:nvPr/>
        </p:nvSpPr>
        <p:spPr>
          <a:xfrm>
            <a:off x="4087440" y="3611880"/>
            <a:ext cx="1874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3d3e"/>
                </a:solidFill>
                <a:latin typeface="Calibri"/>
                <a:ea typeface="Calibri"/>
              </a:rPr>
              <a:t>No support net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1" name="Text 23"/>
          <p:cNvSpPr/>
          <p:nvPr/>
        </p:nvSpPr>
        <p:spPr>
          <a:xfrm>
            <a:off x="3538800" y="4142160"/>
            <a:ext cx="2377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e7472"/>
                </a:solidFill>
                <a:latin typeface="Calibri"/>
                <a:ea typeface="Calibri"/>
              </a:rPr>
              <a:t>No mentor to ask, no idea which scholarships even exist.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2" name="Shape 24"/>
          <p:cNvSpPr/>
          <p:nvPr/>
        </p:nvSpPr>
        <p:spPr>
          <a:xfrm>
            <a:off x="6254640" y="3429000"/>
            <a:ext cx="2733840" cy="1416960"/>
          </a:xfrm>
          <a:prstGeom prst="roundRect">
            <a:avLst>
              <a:gd name="adj" fmla="val 4516"/>
            </a:avLst>
          </a:prstGeom>
          <a:solidFill>
            <a:srgbClr val="eef5f4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3" name="Shape 25"/>
          <p:cNvSpPr/>
          <p:nvPr/>
        </p:nvSpPr>
        <p:spPr>
          <a:xfrm>
            <a:off x="6419160" y="3611880"/>
            <a:ext cx="456840" cy="456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76f5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84" name="Image 6" descr="preencoded.png"/>
          <p:cNvPicPr/>
          <p:nvPr/>
        </p:nvPicPr>
        <p:blipFill>
          <a:blip r:embed="rId7"/>
          <a:stretch/>
        </p:blipFill>
        <p:spPr>
          <a:xfrm>
            <a:off x="6519600" y="371232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85" name="Text 26"/>
          <p:cNvSpPr/>
          <p:nvPr/>
        </p:nvSpPr>
        <p:spPr>
          <a:xfrm>
            <a:off x="6986160" y="3611880"/>
            <a:ext cx="1874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3d3e"/>
                </a:solidFill>
                <a:latin typeface="Calibri"/>
                <a:ea typeface="Calibri"/>
              </a:rPr>
              <a:t>Low family buy-in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6" name="Text 27"/>
          <p:cNvSpPr/>
          <p:nvPr/>
        </p:nvSpPr>
        <p:spPr>
          <a:xfrm>
            <a:off x="6437520" y="4142160"/>
            <a:ext cx="2377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e7472"/>
                </a:solidFill>
                <a:latin typeface="Calibri"/>
                <a:ea typeface="Calibri"/>
              </a:rPr>
              <a:t>Parents underestimate the long-term value of finishing.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0"/>
          <p:cNvSpPr/>
          <p:nvPr/>
        </p:nvSpPr>
        <p:spPr>
          <a:xfrm>
            <a:off x="457200" y="384120"/>
            <a:ext cx="566640" cy="566640"/>
          </a:xfrm>
          <a:prstGeom prst="ellipse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88" name="Image 0" descr="preencoded.png"/>
          <p:cNvPicPr/>
          <p:nvPr/>
        </p:nvPicPr>
        <p:blipFill>
          <a:blip r:embed="rId1"/>
          <a:stretch/>
        </p:blipFill>
        <p:spPr>
          <a:xfrm>
            <a:off x="585360" y="5119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89" name="Text 1"/>
          <p:cNvSpPr/>
          <p:nvPr/>
        </p:nvSpPr>
        <p:spPr>
          <a:xfrm>
            <a:off x="1170360" y="365760"/>
            <a:ext cx="7497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0f3d3e"/>
                </a:solidFill>
                <a:latin typeface="Cambria"/>
                <a:ea typeface="Cambria"/>
              </a:rPr>
              <a:t>Our idea: meet every barrier with a response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90" name="Text 2"/>
          <p:cNvSpPr/>
          <p:nvPr/>
        </p:nvSpPr>
        <p:spPr>
          <a:xfrm>
            <a:off x="1170360" y="87768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199" strike="noStrike">
                <a:solidFill>
                  <a:srgbClr val="2a9d8f"/>
                </a:solidFill>
                <a:latin typeface="Calibri"/>
                <a:ea typeface="Calibri"/>
              </a:rPr>
              <a:t>THE BIG PICTURE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91" name="Text 3"/>
          <p:cNvSpPr/>
          <p:nvPr/>
        </p:nvSpPr>
        <p:spPr>
          <a:xfrm>
            <a:off x="457200" y="120708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f2d2e"/>
                </a:solidFill>
                <a:latin typeface="Calibri"/>
                <a:ea typeface="Calibri"/>
              </a:rPr>
              <a:t>Most ed-tech just adds more content. RootED is different — for each reason a student leaves, we built a specific pillar to keep them in.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2" name="Text 4"/>
          <p:cNvSpPr/>
          <p:nvPr/>
        </p:nvSpPr>
        <p:spPr>
          <a:xfrm>
            <a:off x="457200" y="1828800"/>
            <a:ext cx="36115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e76f51"/>
                </a:solidFill>
                <a:latin typeface="Calibri"/>
                <a:ea typeface="Calibri"/>
              </a:rPr>
              <a:t>Can't afford to keep studying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93" name="Shape 5"/>
          <p:cNvSpPr/>
          <p:nvPr/>
        </p:nvSpPr>
        <p:spPr>
          <a:xfrm>
            <a:off x="4160520" y="2029680"/>
            <a:ext cx="383760" cy="360"/>
          </a:xfrm>
          <a:prstGeom prst="line">
            <a:avLst/>
          </a:prstGeom>
          <a:ln w="25400">
            <a:solidFill>
              <a:srgbClr val="2a9d8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Shape 6"/>
          <p:cNvSpPr/>
          <p:nvPr/>
        </p:nvSpPr>
        <p:spPr>
          <a:xfrm>
            <a:off x="4617720" y="1847160"/>
            <a:ext cx="4068720" cy="365400"/>
          </a:xfrm>
          <a:prstGeom prst="roundRect">
            <a:avLst>
              <a:gd name="adj" fmla="val 12500"/>
            </a:avLst>
          </a:prstGeom>
          <a:solidFill>
            <a:srgbClr val="fbf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 7"/>
          <p:cNvSpPr/>
          <p:nvPr/>
        </p:nvSpPr>
        <p:spPr>
          <a:xfrm>
            <a:off x="4754880" y="184716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3d3e"/>
                </a:solidFill>
                <a:latin typeface="Calibri"/>
                <a:ea typeface="Calibri"/>
              </a:rPr>
              <a:t>Learn &amp; Earn — get paid to translate lectures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6" name="Text 8"/>
          <p:cNvSpPr/>
          <p:nvPr/>
        </p:nvSpPr>
        <p:spPr>
          <a:xfrm>
            <a:off x="457200" y="2286000"/>
            <a:ext cx="36115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e76f51"/>
                </a:solidFill>
                <a:latin typeface="Calibri"/>
                <a:ea typeface="Calibri"/>
              </a:rPr>
              <a:t>Lessons aren't in my language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97" name="Shape 9"/>
          <p:cNvSpPr/>
          <p:nvPr/>
        </p:nvSpPr>
        <p:spPr>
          <a:xfrm>
            <a:off x="4160520" y="2486880"/>
            <a:ext cx="383760" cy="360"/>
          </a:xfrm>
          <a:prstGeom prst="line">
            <a:avLst/>
          </a:prstGeom>
          <a:ln w="25400">
            <a:solidFill>
              <a:srgbClr val="2a9d8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Shape 10"/>
          <p:cNvSpPr/>
          <p:nvPr/>
        </p:nvSpPr>
        <p:spPr>
          <a:xfrm>
            <a:off x="4617720" y="2304360"/>
            <a:ext cx="4068720" cy="365400"/>
          </a:xfrm>
          <a:prstGeom prst="roundRect">
            <a:avLst>
              <a:gd name="adj" fmla="val 12500"/>
            </a:avLst>
          </a:prstGeom>
          <a:solidFill>
            <a:srgbClr val="eef5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11"/>
          <p:cNvSpPr/>
          <p:nvPr/>
        </p:nvSpPr>
        <p:spPr>
          <a:xfrm>
            <a:off x="4754880" y="230436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3d3e"/>
                </a:solidFill>
                <a:latin typeface="Calibri"/>
                <a:ea typeface="Calibri"/>
              </a:rPr>
              <a:t>Native-language transcripts of top open lectures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0" name="Text 12"/>
          <p:cNvSpPr/>
          <p:nvPr/>
        </p:nvSpPr>
        <p:spPr>
          <a:xfrm>
            <a:off x="457200" y="2743200"/>
            <a:ext cx="36115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e76f51"/>
                </a:solidFill>
                <a:latin typeface="Calibri"/>
                <a:ea typeface="Calibri"/>
              </a:rPr>
              <a:t>I'm lost and falling behind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01" name="Shape 13"/>
          <p:cNvSpPr/>
          <p:nvPr/>
        </p:nvSpPr>
        <p:spPr>
          <a:xfrm>
            <a:off x="4160520" y="2944080"/>
            <a:ext cx="383760" cy="360"/>
          </a:xfrm>
          <a:prstGeom prst="line">
            <a:avLst/>
          </a:prstGeom>
          <a:ln w="25400">
            <a:solidFill>
              <a:srgbClr val="2a9d8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Shape 14"/>
          <p:cNvSpPr/>
          <p:nvPr/>
        </p:nvSpPr>
        <p:spPr>
          <a:xfrm>
            <a:off x="4617720" y="2761560"/>
            <a:ext cx="4068720" cy="365400"/>
          </a:xfrm>
          <a:prstGeom prst="roundRect">
            <a:avLst>
              <a:gd name="adj" fmla="val 12500"/>
            </a:avLst>
          </a:prstGeom>
          <a:solidFill>
            <a:srgbClr val="fbf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Text 15"/>
          <p:cNvSpPr/>
          <p:nvPr/>
        </p:nvSpPr>
        <p:spPr>
          <a:xfrm>
            <a:off x="4754880" y="276156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3d3e"/>
                </a:solidFill>
                <a:latin typeface="Calibri"/>
                <a:ea typeface="Calibri"/>
              </a:rPr>
              <a:t>Gamified gap-finder + a quick personal roadmap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4" name="Text 16"/>
          <p:cNvSpPr/>
          <p:nvPr/>
        </p:nvSpPr>
        <p:spPr>
          <a:xfrm>
            <a:off x="457200" y="3200400"/>
            <a:ext cx="36115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e76f51"/>
                </a:solidFill>
                <a:latin typeface="Calibri"/>
                <a:ea typeface="Calibri"/>
              </a:rPr>
              <a:t>Nobody tells me what's out there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05" name="Shape 17"/>
          <p:cNvSpPr/>
          <p:nvPr/>
        </p:nvSpPr>
        <p:spPr>
          <a:xfrm>
            <a:off x="4160520" y="3401280"/>
            <a:ext cx="383760" cy="360"/>
          </a:xfrm>
          <a:prstGeom prst="line">
            <a:avLst/>
          </a:prstGeom>
          <a:ln w="25400">
            <a:solidFill>
              <a:srgbClr val="2a9d8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Shape 18"/>
          <p:cNvSpPr/>
          <p:nvPr/>
        </p:nvSpPr>
        <p:spPr>
          <a:xfrm>
            <a:off x="4617720" y="3218760"/>
            <a:ext cx="4068720" cy="365400"/>
          </a:xfrm>
          <a:prstGeom prst="roundRect">
            <a:avLst>
              <a:gd name="adj" fmla="val 12500"/>
            </a:avLst>
          </a:prstGeom>
          <a:solidFill>
            <a:srgbClr val="eef5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Text 19"/>
          <p:cNvSpPr/>
          <p:nvPr/>
        </p:nvSpPr>
        <p:spPr>
          <a:xfrm>
            <a:off x="4754880" y="321876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3d3e"/>
                </a:solidFill>
                <a:latin typeface="Calibri"/>
                <a:ea typeface="Calibri"/>
              </a:rPr>
              <a:t>Reels feed: bite-size content, quizzes, scholarships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8" name="Text 20"/>
          <p:cNvSpPr/>
          <p:nvPr/>
        </p:nvSpPr>
        <p:spPr>
          <a:xfrm>
            <a:off x="457200" y="3657600"/>
            <a:ext cx="36115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e76f51"/>
                </a:solidFill>
                <a:latin typeface="Calibri"/>
                <a:ea typeface="Calibri"/>
              </a:rPr>
              <a:t>My family wants me to quit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09" name="Shape 21"/>
          <p:cNvSpPr/>
          <p:nvPr/>
        </p:nvSpPr>
        <p:spPr>
          <a:xfrm>
            <a:off x="4160520" y="3858480"/>
            <a:ext cx="383760" cy="360"/>
          </a:xfrm>
          <a:prstGeom prst="line">
            <a:avLst/>
          </a:prstGeom>
          <a:ln w="25400">
            <a:solidFill>
              <a:srgbClr val="2a9d8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Shape 22"/>
          <p:cNvSpPr/>
          <p:nvPr/>
        </p:nvSpPr>
        <p:spPr>
          <a:xfrm>
            <a:off x="4617720" y="3675960"/>
            <a:ext cx="4068720" cy="365400"/>
          </a:xfrm>
          <a:prstGeom prst="roundRect">
            <a:avLst>
              <a:gd name="adj" fmla="val 12500"/>
            </a:avLst>
          </a:prstGeom>
          <a:solidFill>
            <a:srgbClr val="fbf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Text 23"/>
          <p:cNvSpPr/>
          <p:nvPr/>
        </p:nvSpPr>
        <p:spPr>
          <a:xfrm>
            <a:off x="4754880" y="367596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3d3e"/>
                </a:solidFill>
                <a:latin typeface="Calibri"/>
                <a:ea typeface="Calibri"/>
              </a:rPr>
              <a:t>NGO-led family counseling on long-term payoff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2" name="Text 24"/>
          <p:cNvSpPr/>
          <p:nvPr/>
        </p:nvSpPr>
        <p:spPr>
          <a:xfrm>
            <a:off x="457200" y="4114800"/>
            <a:ext cx="36115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e76f51"/>
                </a:solidFill>
                <a:latin typeface="Calibri"/>
                <a:ea typeface="Calibri"/>
              </a:rPr>
              <a:t>Home is not a place I can learn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13" name="Shape 25"/>
          <p:cNvSpPr/>
          <p:nvPr/>
        </p:nvSpPr>
        <p:spPr>
          <a:xfrm>
            <a:off x="4160520" y="4315680"/>
            <a:ext cx="383760" cy="360"/>
          </a:xfrm>
          <a:prstGeom prst="line">
            <a:avLst/>
          </a:prstGeom>
          <a:ln w="25400">
            <a:solidFill>
              <a:srgbClr val="2a9d8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Shape 26"/>
          <p:cNvSpPr/>
          <p:nvPr/>
        </p:nvSpPr>
        <p:spPr>
          <a:xfrm>
            <a:off x="4617720" y="4133160"/>
            <a:ext cx="4068720" cy="365400"/>
          </a:xfrm>
          <a:prstGeom prst="roundRect">
            <a:avLst>
              <a:gd name="adj" fmla="val 12500"/>
            </a:avLst>
          </a:prstGeom>
          <a:solidFill>
            <a:srgbClr val="eef5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Text 27"/>
          <p:cNvSpPr/>
          <p:nvPr/>
        </p:nvSpPr>
        <p:spPr>
          <a:xfrm>
            <a:off x="4754880" y="413316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3d3e"/>
                </a:solidFill>
                <a:latin typeface="Calibri"/>
                <a:ea typeface="Calibri"/>
              </a:rPr>
              <a:t>Affordable hostel / housing access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6" name="Text 28"/>
          <p:cNvSpPr/>
          <p:nvPr/>
        </p:nvSpPr>
        <p:spPr>
          <a:xfrm>
            <a:off x="457200" y="4572000"/>
            <a:ext cx="36115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e76f51"/>
                </a:solidFill>
                <a:latin typeface="Calibri"/>
                <a:ea typeface="Calibri"/>
              </a:rPr>
              <a:t>I have a problem and no one to ask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17" name="Shape 29"/>
          <p:cNvSpPr/>
          <p:nvPr/>
        </p:nvSpPr>
        <p:spPr>
          <a:xfrm>
            <a:off x="4160520" y="4772880"/>
            <a:ext cx="383760" cy="360"/>
          </a:xfrm>
          <a:prstGeom prst="line">
            <a:avLst/>
          </a:prstGeom>
          <a:ln w="25400">
            <a:solidFill>
              <a:srgbClr val="2a9d8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Shape 30"/>
          <p:cNvSpPr/>
          <p:nvPr/>
        </p:nvSpPr>
        <p:spPr>
          <a:xfrm>
            <a:off x="4617720" y="4590360"/>
            <a:ext cx="4068720" cy="365400"/>
          </a:xfrm>
          <a:prstGeom prst="roundRect">
            <a:avLst>
              <a:gd name="adj" fmla="val 12500"/>
            </a:avLst>
          </a:prstGeom>
          <a:solidFill>
            <a:srgbClr val="fbf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31"/>
          <p:cNvSpPr/>
          <p:nvPr/>
        </p:nvSpPr>
        <p:spPr>
          <a:xfrm>
            <a:off x="4754880" y="459036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3d3e"/>
                </a:solidFill>
                <a:latin typeface="Calibri"/>
                <a:ea typeface="Calibri"/>
              </a:rPr>
              <a:t>RAG chatbot that finds the exact help + links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0"/>
          <p:cNvSpPr/>
          <p:nvPr/>
        </p:nvSpPr>
        <p:spPr>
          <a:xfrm>
            <a:off x="457200" y="384120"/>
            <a:ext cx="566640" cy="566640"/>
          </a:xfrm>
          <a:prstGeom prst="ellipse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21" name="Image 0" descr="preencoded.png"/>
          <p:cNvPicPr/>
          <p:nvPr/>
        </p:nvPicPr>
        <p:blipFill>
          <a:blip r:embed="rId1"/>
          <a:stretch/>
        </p:blipFill>
        <p:spPr>
          <a:xfrm>
            <a:off x="585360" y="5119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22" name="Text 1"/>
          <p:cNvSpPr/>
          <p:nvPr/>
        </p:nvSpPr>
        <p:spPr>
          <a:xfrm>
            <a:off x="1170360" y="365760"/>
            <a:ext cx="7497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0f3d3e"/>
                </a:solidFill>
                <a:latin typeface="Cambria"/>
                <a:ea typeface="Cambria"/>
              </a:rPr>
              <a:t>Six pillars, one platform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23" name="Text 2"/>
          <p:cNvSpPr/>
          <p:nvPr/>
        </p:nvSpPr>
        <p:spPr>
          <a:xfrm>
            <a:off x="1170360" y="87768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199" strike="noStrike">
                <a:solidFill>
                  <a:srgbClr val="2a9d8f"/>
                </a:solidFill>
                <a:latin typeface="Calibri"/>
                <a:ea typeface="Calibri"/>
              </a:rPr>
              <a:t>WHAT WE'RE BUILDING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4" name="Shape 3"/>
          <p:cNvSpPr/>
          <p:nvPr/>
        </p:nvSpPr>
        <p:spPr>
          <a:xfrm>
            <a:off x="457200" y="1298520"/>
            <a:ext cx="2733840" cy="17553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de8e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5" name="Shape 4"/>
          <p:cNvSpPr/>
          <p:nvPr/>
        </p:nvSpPr>
        <p:spPr>
          <a:xfrm>
            <a:off x="658440" y="1499760"/>
            <a:ext cx="548280" cy="548280"/>
          </a:xfrm>
          <a:prstGeom prst="ellipse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26" name="Image 1" descr="preencoded.png"/>
          <p:cNvPicPr/>
          <p:nvPr/>
        </p:nvPicPr>
        <p:blipFill>
          <a:blip r:embed="rId2"/>
          <a:stretch/>
        </p:blipFill>
        <p:spPr>
          <a:xfrm>
            <a:off x="786240" y="162756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27" name="Text 5"/>
          <p:cNvSpPr/>
          <p:nvPr/>
        </p:nvSpPr>
        <p:spPr>
          <a:xfrm>
            <a:off x="1325880" y="1499760"/>
            <a:ext cx="1737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0f3d3e"/>
                </a:solidFill>
                <a:latin typeface="Calibri"/>
                <a:ea typeface="Calibri"/>
              </a:rPr>
              <a:t>1. Learn &amp; Earn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28" name="Text 6"/>
          <p:cNvSpPr/>
          <p:nvPr/>
        </p:nvSpPr>
        <p:spPr>
          <a:xfrm>
            <a:off x="676800" y="2121480"/>
            <a:ext cx="23313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70" spc="-1" strike="noStrike">
                <a:solidFill>
                  <a:srgbClr val="5e7472"/>
                </a:solidFill>
                <a:latin typeface="Calibri"/>
                <a:ea typeface="Calibri"/>
              </a:rPr>
              <a:t>Verified students translate open lectures into native languages — and earn micro-income for every vetted transcript.</a:t>
            </a:r>
            <a:endParaRPr b="0" lang="en-IN" sz="970" spc="-1" strike="noStrike">
              <a:latin typeface="Arial"/>
            </a:endParaRPr>
          </a:p>
        </p:txBody>
      </p:sp>
      <p:sp>
        <p:nvSpPr>
          <p:cNvPr id="129" name="Shape 7"/>
          <p:cNvSpPr/>
          <p:nvPr/>
        </p:nvSpPr>
        <p:spPr>
          <a:xfrm>
            <a:off x="3355920" y="1298520"/>
            <a:ext cx="2733840" cy="17553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de8e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0" name="Shape 8"/>
          <p:cNvSpPr/>
          <p:nvPr/>
        </p:nvSpPr>
        <p:spPr>
          <a:xfrm>
            <a:off x="3557160" y="1499760"/>
            <a:ext cx="548280" cy="548280"/>
          </a:xfrm>
          <a:prstGeom prst="ellipse">
            <a:avLst/>
          </a:prstGeom>
          <a:solidFill>
            <a:srgbClr val="1474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31" name="Image 2" descr="preencoded.png"/>
          <p:cNvPicPr/>
          <p:nvPr/>
        </p:nvPicPr>
        <p:blipFill>
          <a:blip r:embed="rId3"/>
          <a:stretch/>
        </p:blipFill>
        <p:spPr>
          <a:xfrm>
            <a:off x="3684960" y="162756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32" name="Text 9"/>
          <p:cNvSpPr/>
          <p:nvPr/>
        </p:nvSpPr>
        <p:spPr>
          <a:xfrm>
            <a:off x="4224600" y="1499760"/>
            <a:ext cx="1737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0f3d3e"/>
                </a:solidFill>
                <a:latin typeface="Calibri"/>
                <a:ea typeface="Calibri"/>
              </a:rPr>
              <a:t>2. Gap-Finder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33" name="Text 10"/>
          <p:cNvSpPr/>
          <p:nvPr/>
        </p:nvSpPr>
        <p:spPr>
          <a:xfrm>
            <a:off x="3575160" y="2121480"/>
            <a:ext cx="23313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70" spc="-1" strike="noStrike">
                <a:solidFill>
                  <a:srgbClr val="5e7472"/>
                </a:solidFill>
                <a:latin typeface="Calibri"/>
                <a:ea typeface="Calibri"/>
              </a:rPr>
              <a:t>A short, gamified diagnostic finds the root gap behind your confusion and builds a quick roadmap to close it.</a:t>
            </a:r>
            <a:endParaRPr b="0" lang="en-IN" sz="970" spc="-1" strike="noStrike">
              <a:latin typeface="Arial"/>
            </a:endParaRPr>
          </a:p>
        </p:txBody>
      </p:sp>
      <p:sp>
        <p:nvSpPr>
          <p:cNvPr id="134" name="Shape 11"/>
          <p:cNvSpPr/>
          <p:nvPr/>
        </p:nvSpPr>
        <p:spPr>
          <a:xfrm>
            <a:off x="6254640" y="1298520"/>
            <a:ext cx="2733840" cy="17553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de8e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5" name="Shape 12"/>
          <p:cNvSpPr/>
          <p:nvPr/>
        </p:nvSpPr>
        <p:spPr>
          <a:xfrm>
            <a:off x="6455520" y="1499760"/>
            <a:ext cx="548280" cy="548280"/>
          </a:xfrm>
          <a:prstGeom prst="ellipse">
            <a:avLst/>
          </a:prstGeom>
          <a:solidFill>
            <a:srgbClr val="e9a2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36" name="Image 3" descr="preencoded.png"/>
          <p:cNvPicPr/>
          <p:nvPr/>
        </p:nvPicPr>
        <p:blipFill>
          <a:blip r:embed="rId4"/>
          <a:stretch/>
        </p:blipFill>
        <p:spPr>
          <a:xfrm>
            <a:off x="6583680" y="162756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37" name="Text 13"/>
          <p:cNvSpPr/>
          <p:nvPr/>
        </p:nvSpPr>
        <p:spPr>
          <a:xfrm>
            <a:off x="7123320" y="1499760"/>
            <a:ext cx="1737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0f3d3e"/>
                </a:solidFill>
                <a:latin typeface="Calibri"/>
                <a:ea typeface="Calibri"/>
              </a:rPr>
              <a:t>3. Reels Feed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38" name="Text 14"/>
          <p:cNvSpPr/>
          <p:nvPr/>
        </p:nvSpPr>
        <p:spPr>
          <a:xfrm>
            <a:off x="6473880" y="2121480"/>
            <a:ext cx="23313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70" spc="-1" strike="noStrike">
                <a:solidFill>
                  <a:srgbClr val="5e7472"/>
                </a:solidFill>
                <a:latin typeface="Calibri"/>
                <a:ea typeface="Calibri"/>
              </a:rPr>
              <a:t>Swipeable short-form: chapter recaps, quick quizzes and scholarship alerts you can share with friends.</a:t>
            </a:r>
            <a:endParaRPr b="0" lang="en-IN" sz="970" spc="-1" strike="noStrike">
              <a:latin typeface="Arial"/>
            </a:endParaRPr>
          </a:p>
        </p:txBody>
      </p:sp>
      <p:sp>
        <p:nvSpPr>
          <p:cNvPr id="139" name="Shape 15"/>
          <p:cNvSpPr/>
          <p:nvPr/>
        </p:nvSpPr>
        <p:spPr>
          <a:xfrm>
            <a:off x="457200" y="3200400"/>
            <a:ext cx="2733840" cy="17553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de8e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0" name="Shape 16"/>
          <p:cNvSpPr/>
          <p:nvPr/>
        </p:nvSpPr>
        <p:spPr>
          <a:xfrm>
            <a:off x="658440" y="3401640"/>
            <a:ext cx="548280" cy="548280"/>
          </a:xfrm>
          <a:prstGeom prst="ellipse">
            <a:avLst/>
          </a:prstGeom>
          <a:solidFill>
            <a:srgbClr val="e76f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41" name="Image 4" descr="preencoded.png"/>
          <p:cNvPicPr/>
          <p:nvPr/>
        </p:nvPicPr>
        <p:blipFill>
          <a:blip r:embed="rId5"/>
          <a:stretch/>
        </p:blipFill>
        <p:spPr>
          <a:xfrm>
            <a:off x="786240" y="352944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42" name="Text 17"/>
          <p:cNvSpPr/>
          <p:nvPr/>
        </p:nvSpPr>
        <p:spPr>
          <a:xfrm>
            <a:off x="1325880" y="3401640"/>
            <a:ext cx="1737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0f3d3e"/>
                </a:solidFill>
                <a:latin typeface="Calibri"/>
                <a:ea typeface="Calibri"/>
              </a:rPr>
              <a:t>4. Family Bridge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43" name="Text 18"/>
          <p:cNvSpPr/>
          <p:nvPr/>
        </p:nvSpPr>
        <p:spPr>
          <a:xfrm>
            <a:off x="676800" y="4023360"/>
            <a:ext cx="23313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70" spc="-1" strike="noStrike">
                <a:solidFill>
                  <a:srgbClr val="5e7472"/>
                </a:solidFill>
                <a:latin typeface="Calibri"/>
                <a:ea typeface="Calibri"/>
              </a:rPr>
              <a:t>NGOs counsel families on the long-term value of education and how to support their learner.</a:t>
            </a:r>
            <a:endParaRPr b="0" lang="en-IN" sz="970" spc="-1" strike="noStrike">
              <a:latin typeface="Arial"/>
            </a:endParaRPr>
          </a:p>
        </p:txBody>
      </p:sp>
      <p:sp>
        <p:nvSpPr>
          <p:cNvPr id="144" name="Shape 19"/>
          <p:cNvSpPr/>
          <p:nvPr/>
        </p:nvSpPr>
        <p:spPr>
          <a:xfrm>
            <a:off x="3355920" y="3200400"/>
            <a:ext cx="2733840" cy="17553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de8e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5" name="Shape 20"/>
          <p:cNvSpPr/>
          <p:nvPr/>
        </p:nvSpPr>
        <p:spPr>
          <a:xfrm>
            <a:off x="3557160" y="3401640"/>
            <a:ext cx="548280" cy="548280"/>
          </a:xfrm>
          <a:prstGeom prst="ellipse">
            <a:avLst/>
          </a:prstGeom>
          <a:solidFill>
            <a:srgbClr val="1474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46" name="Image 5" descr="preencoded.png"/>
          <p:cNvPicPr/>
          <p:nvPr/>
        </p:nvPicPr>
        <p:blipFill>
          <a:blip r:embed="rId6"/>
          <a:stretch/>
        </p:blipFill>
        <p:spPr>
          <a:xfrm>
            <a:off x="3684960" y="352944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47" name="Text 21"/>
          <p:cNvSpPr/>
          <p:nvPr/>
        </p:nvSpPr>
        <p:spPr>
          <a:xfrm>
            <a:off x="4224600" y="3401640"/>
            <a:ext cx="1737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0f3d3e"/>
                </a:solidFill>
                <a:latin typeface="Calibri"/>
                <a:ea typeface="Calibri"/>
              </a:rPr>
              <a:t>5. Safe Housing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48" name="Text 22"/>
          <p:cNvSpPr/>
          <p:nvPr/>
        </p:nvSpPr>
        <p:spPr>
          <a:xfrm>
            <a:off x="3575160" y="4023360"/>
            <a:ext cx="23313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70" spc="-1" strike="noStrike">
                <a:solidFill>
                  <a:srgbClr val="5e7472"/>
                </a:solidFill>
                <a:latin typeface="Calibri"/>
                <a:ea typeface="Calibri"/>
              </a:rPr>
              <a:t>Access to affordable hostels so a tough home situation doesn't end an education.</a:t>
            </a:r>
            <a:endParaRPr b="0" lang="en-IN" sz="970" spc="-1" strike="noStrike">
              <a:latin typeface="Arial"/>
            </a:endParaRPr>
          </a:p>
        </p:txBody>
      </p:sp>
      <p:sp>
        <p:nvSpPr>
          <p:cNvPr id="149" name="Shape 23"/>
          <p:cNvSpPr/>
          <p:nvPr/>
        </p:nvSpPr>
        <p:spPr>
          <a:xfrm>
            <a:off x="6254640" y="3200400"/>
            <a:ext cx="2733840" cy="17553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de8e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0" name="Shape 24"/>
          <p:cNvSpPr/>
          <p:nvPr/>
        </p:nvSpPr>
        <p:spPr>
          <a:xfrm>
            <a:off x="6455520" y="3401640"/>
            <a:ext cx="548280" cy="548280"/>
          </a:xfrm>
          <a:prstGeom prst="ellipse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51" name="Image 6" descr="preencoded.png"/>
          <p:cNvPicPr/>
          <p:nvPr/>
        </p:nvPicPr>
        <p:blipFill>
          <a:blip r:embed="rId7"/>
          <a:stretch/>
        </p:blipFill>
        <p:spPr>
          <a:xfrm>
            <a:off x="6583680" y="352944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52" name="Text 25"/>
          <p:cNvSpPr/>
          <p:nvPr/>
        </p:nvSpPr>
        <p:spPr>
          <a:xfrm>
            <a:off x="7123320" y="3401640"/>
            <a:ext cx="1737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0f3d3e"/>
                </a:solidFill>
                <a:latin typeface="Calibri"/>
                <a:ea typeface="Calibri"/>
              </a:rPr>
              <a:t>6. Help Chatbot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53" name="Text 26"/>
          <p:cNvSpPr/>
          <p:nvPr/>
        </p:nvSpPr>
        <p:spPr>
          <a:xfrm>
            <a:off x="6473880" y="4023360"/>
            <a:ext cx="23313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70" spc="-1" strike="noStrike">
                <a:solidFill>
                  <a:srgbClr val="5e7472"/>
                </a:solidFill>
                <a:latin typeface="Calibri"/>
                <a:ea typeface="Calibri"/>
              </a:rPr>
              <a:t>Ask anything in your language; a RAG assistant retrieves the exact resource, scheme or link — or routes you to a human.</a:t>
            </a:r>
            <a:endParaRPr b="0" lang="en-IN" sz="97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0"/>
          <p:cNvSpPr/>
          <p:nvPr/>
        </p:nvSpPr>
        <p:spPr>
          <a:xfrm>
            <a:off x="457200" y="384120"/>
            <a:ext cx="566640" cy="566640"/>
          </a:xfrm>
          <a:prstGeom prst="ellipse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55" name="Image 0" descr="preencoded.png"/>
          <p:cNvPicPr/>
          <p:nvPr/>
        </p:nvPicPr>
        <p:blipFill>
          <a:blip r:embed="rId1"/>
          <a:stretch/>
        </p:blipFill>
        <p:spPr>
          <a:xfrm>
            <a:off x="585360" y="5119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56" name="Text 1"/>
          <p:cNvSpPr/>
          <p:nvPr/>
        </p:nvSpPr>
        <p:spPr>
          <a:xfrm>
            <a:off x="1170360" y="365760"/>
            <a:ext cx="7497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0f3d3e"/>
                </a:solidFill>
                <a:latin typeface="Cambria"/>
                <a:ea typeface="Cambria"/>
              </a:rPr>
              <a:t>Built for VIDYA — all five sub-points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57" name="Text 2"/>
          <p:cNvSpPr/>
          <p:nvPr/>
        </p:nvSpPr>
        <p:spPr>
          <a:xfrm>
            <a:off x="1170360" y="87768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199" strike="noStrike">
                <a:solidFill>
                  <a:srgbClr val="2a9d8f"/>
                </a:solidFill>
                <a:latin typeface="Calibri"/>
                <a:ea typeface="Calibri"/>
              </a:rPr>
              <a:t>THEME ALIGNMENT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8" name="Text 3"/>
          <p:cNvSpPr/>
          <p:nvPr/>
        </p:nvSpPr>
        <p:spPr>
          <a:xfrm>
            <a:off x="457200" y="120708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f2d2e"/>
                </a:solidFill>
                <a:latin typeface="Calibri"/>
                <a:ea typeface="Calibri"/>
              </a:rPr>
              <a:t>We're targeting the VIDYA theme. Here's how the platform answers every sub-point it asks for — skilling and returnees included.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9" name="Shape 4"/>
          <p:cNvSpPr/>
          <p:nvPr/>
        </p:nvSpPr>
        <p:spPr>
          <a:xfrm>
            <a:off x="457200" y="1810440"/>
            <a:ext cx="8229240" cy="502560"/>
          </a:xfrm>
          <a:prstGeom prst="roundRect">
            <a:avLst>
              <a:gd name="adj" fmla="val 10909"/>
            </a:avLst>
          </a:prstGeom>
          <a:solidFill>
            <a:srgbClr val="eef5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Shape 5"/>
          <p:cNvSpPr/>
          <p:nvPr/>
        </p:nvSpPr>
        <p:spPr>
          <a:xfrm>
            <a:off x="621720" y="1906560"/>
            <a:ext cx="310680" cy="310680"/>
          </a:xfrm>
          <a:prstGeom prst="ellipse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61" name="Image 1" descr="preencoded.png"/>
          <p:cNvPicPr/>
          <p:nvPr/>
        </p:nvPicPr>
        <p:blipFill>
          <a:blip r:embed="rId2"/>
          <a:stretch/>
        </p:blipFill>
        <p:spPr>
          <a:xfrm>
            <a:off x="690480" y="1974960"/>
            <a:ext cx="173520" cy="173520"/>
          </a:xfrm>
          <a:prstGeom prst="rect">
            <a:avLst/>
          </a:prstGeom>
          <a:ln w="0">
            <a:noFill/>
          </a:ln>
        </p:spPr>
      </p:pic>
      <p:sp>
        <p:nvSpPr>
          <p:cNvPr id="162" name="Text 6"/>
          <p:cNvSpPr/>
          <p:nvPr/>
        </p:nvSpPr>
        <p:spPr>
          <a:xfrm>
            <a:off x="1115640" y="1810440"/>
            <a:ext cx="3062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f3d3e"/>
                </a:solidFill>
                <a:latin typeface="Calibri"/>
                <a:ea typeface="Calibri"/>
              </a:rPr>
              <a:t>First-generation learner support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3" name="Text 7"/>
          <p:cNvSpPr/>
          <p:nvPr/>
        </p:nvSpPr>
        <p:spPr>
          <a:xfrm>
            <a:off x="4297680" y="1810440"/>
            <a:ext cx="4251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1f2d2e"/>
                </a:solidFill>
                <a:latin typeface="Calibri"/>
                <a:ea typeface="Calibri"/>
              </a:rPr>
              <a:t>The whole platform is designed around them — every pillar removes one barrier they face.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164" name="Shape 8"/>
          <p:cNvSpPr/>
          <p:nvPr/>
        </p:nvSpPr>
        <p:spPr>
          <a:xfrm>
            <a:off x="457200" y="2386440"/>
            <a:ext cx="8229240" cy="502560"/>
          </a:xfrm>
          <a:prstGeom prst="roundRect">
            <a:avLst>
              <a:gd name="adj" fmla="val 10909"/>
            </a:avLst>
          </a:prstGeom>
          <a:solidFill>
            <a:srgbClr val="eef5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Shape 9"/>
          <p:cNvSpPr/>
          <p:nvPr/>
        </p:nvSpPr>
        <p:spPr>
          <a:xfrm>
            <a:off x="621720" y="2482560"/>
            <a:ext cx="310680" cy="310680"/>
          </a:xfrm>
          <a:prstGeom prst="ellipse">
            <a:avLst/>
          </a:prstGeom>
          <a:solidFill>
            <a:srgbClr val="1474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66" name="Image 2" descr="preencoded.png"/>
          <p:cNvPicPr/>
          <p:nvPr/>
        </p:nvPicPr>
        <p:blipFill>
          <a:blip r:embed="rId3"/>
          <a:stretch/>
        </p:blipFill>
        <p:spPr>
          <a:xfrm>
            <a:off x="690480" y="2551320"/>
            <a:ext cx="173520" cy="173520"/>
          </a:xfrm>
          <a:prstGeom prst="rect">
            <a:avLst/>
          </a:prstGeom>
          <a:ln w="0">
            <a:noFill/>
          </a:ln>
        </p:spPr>
      </p:pic>
      <p:sp>
        <p:nvSpPr>
          <p:cNvPr id="167" name="Text 10"/>
          <p:cNvSpPr/>
          <p:nvPr/>
        </p:nvSpPr>
        <p:spPr>
          <a:xfrm>
            <a:off x="1115640" y="2386440"/>
            <a:ext cx="3062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f3d3e"/>
                </a:solidFill>
                <a:latin typeface="Calibri"/>
                <a:ea typeface="Calibri"/>
              </a:rPr>
              <a:t>Learning in mother tongue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8" name="Text 11"/>
          <p:cNvSpPr/>
          <p:nvPr/>
        </p:nvSpPr>
        <p:spPr>
          <a:xfrm>
            <a:off x="4297680" y="2386440"/>
            <a:ext cx="4251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1f2d2e"/>
                </a:solidFill>
                <a:latin typeface="Calibri"/>
                <a:ea typeface="Calibri"/>
              </a:rPr>
              <a:t>Native-language lecture transcripts via AI4Bharat ASR + IndicTrans2.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169" name="Shape 12"/>
          <p:cNvSpPr/>
          <p:nvPr/>
        </p:nvSpPr>
        <p:spPr>
          <a:xfrm>
            <a:off x="457200" y="2962800"/>
            <a:ext cx="8229240" cy="502560"/>
          </a:xfrm>
          <a:prstGeom prst="roundRect">
            <a:avLst>
              <a:gd name="adj" fmla="val 10909"/>
            </a:avLst>
          </a:prstGeom>
          <a:solidFill>
            <a:srgbClr val="eef5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Shape 13"/>
          <p:cNvSpPr/>
          <p:nvPr/>
        </p:nvSpPr>
        <p:spPr>
          <a:xfrm>
            <a:off x="621720" y="3058560"/>
            <a:ext cx="310680" cy="310680"/>
          </a:xfrm>
          <a:prstGeom prst="ellipse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71" name="Image 3" descr="preencoded.png"/>
          <p:cNvPicPr/>
          <p:nvPr/>
        </p:nvPicPr>
        <p:blipFill>
          <a:blip r:embed="rId4"/>
          <a:stretch/>
        </p:blipFill>
        <p:spPr>
          <a:xfrm>
            <a:off x="690480" y="3127320"/>
            <a:ext cx="173520" cy="173520"/>
          </a:xfrm>
          <a:prstGeom prst="rect">
            <a:avLst/>
          </a:prstGeom>
          <a:ln w="0">
            <a:noFill/>
          </a:ln>
        </p:spPr>
      </p:pic>
      <p:sp>
        <p:nvSpPr>
          <p:cNvPr id="172" name="Text 14"/>
          <p:cNvSpPr/>
          <p:nvPr/>
        </p:nvSpPr>
        <p:spPr>
          <a:xfrm>
            <a:off x="1115640" y="2962800"/>
            <a:ext cx="3062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f3d3e"/>
                </a:solidFill>
                <a:latin typeface="Calibri"/>
                <a:ea typeface="Calibri"/>
              </a:rPr>
              <a:t>School dropout prevention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3" name="Text 15"/>
          <p:cNvSpPr/>
          <p:nvPr/>
        </p:nvSpPr>
        <p:spPr>
          <a:xfrm>
            <a:off x="4297680" y="2962800"/>
            <a:ext cx="4251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1f2d2e"/>
                </a:solidFill>
                <a:latin typeface="Calibri"/>
                <a:ea typeface="Calibri"/>
              </a:rPr>
              <a:t>Gap-Finder, Family Bridge and safe housing work together to keep students enrolled.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174" name="Shape 16"/>
          <p:cNvSpPr/>
          <p:nvPr/>
        </p:nvSpPr>
        <p:spPr>
          <a:xfrm>
            <a:off x="457200" y="3538800"/>
            <a:ext cx="8229240" cy="502560"/>
          </a:xfrm>
          <a:prstGeom prst="roundRect">
            <a:avLst>
              <a:gd name="adj" fmla="val 10909"/>
            </a:avLst>
          </a:prstGeom>
          <a:solidFill>
            <a:srgbClr val="fbf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Shape 17"/>
          <p:cNvSpPr/>
          <p:nvPr/>
        </p:nvSpPr>
        <p:spPr>
          <a:xfrm>
            <a:off x="621720" y="3634920"/>
            <a:ext cx="310680" cy="310680"/>
          </a:xfrm>
          <a:prstGeom prst="ellipse">
            <a:avLst/>
          </a:prstGeom>
          <a:solidFill>
            <a:srgbClr val="e9a2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76" name="Image 4" descr="preencoded.png"/>
          <p:cNvPicPr/>
          <p:nvPr/>
        </p:nvPicPr>
        <p:blipFill>
          <a:blip r:embed="rId5"/>
          <a:stretch/>
        </p:blipFill>
        <p:spPr>
          <a:xfrm>
            <a:off x="690480" y="3703320"/>
            <a:ext cx="173520" cy="173520"/>
          </a:xfrm>
          <a:prstGeom prst="rect">
            <a:avLst/>
          </a:prstGeom>
          <a:ln w="0">
            <a:noFill/>
          </a:ln>
        </p:spPr>
      </p:pic>
      <p:sp>
        <p:nvSpPr>
          <p:cNvPr id="177" name="Text 18"/>
          <p:cNvSpPr/>
          <p:nvPr/>
        </p:nvSpPr>
        <p:spPr>
          <a:xfrm>
            <a:off x="1115640" y="3538800"/>
            <a:ext cx="3062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f3d3e"/>
                </a:solidFill>
                <a:latin typeface="Calibri"/>
                <a:ea typeface="Calibri"/>
              </a:rPr>
              <a:t>Vocational skill documentation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8" name="Text 19"/>
          <p:cNvSpPr/>
          <p:nvPr/>
        </p:nvSpPr>
        <p:spPr>
          <a:xfrm>
            <a:off x="4297680" y="3538800"/>
            <a:ext cx="4251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1f2d2e"/>
                </a:solidFill>
                <a:latin typeface="Calibri"/>
                <a:ea typeface="Calibri"/>
              </a:rPr>
              <a:t>Learn &amp; Earn doubles as a verifiable 'skills passport'; reels carry vocational micro-content too.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179" name="Shape 20"/>
          <p:cNvSpPr/>
          <p:nvPr/>
        </p:nvSpPr>
        <p:spPr>
          <a:xfrm>
            <a:off x="457200" y="4114800"/>
            <a:ext cx="8229240" cy="502560"/>
          </a:xfrm>
          <a:prstGeom prst="roundRect">
            <a:avLst>
              <a:gd name="adj" fmla="val 10909"/>
            </a:avLst>
          </a:prstGeom>
          <a:solidFill>
            <a:srgbClr val="fbf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Shape 21"/>
          <p:cNvSpPr/>
          <p:nvPr/>
        </p:nvSpPr>
        <p:spPr>
          <a:xfrm>
            <a:off x="621720" y="4210920"/>
            <a:ext cx="310680" cy="310680"/>
          </a:xfrm>
          <a:prstGeom prst="ellipse">
            <a:avLst/>
          </a:prstGeom>
          <a:solidFill>
            <a:srgbClr val="e9a2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81" name="Image 5" descr="preencoded.png"/>
          <p:cNvPicPr/>
          <p:nvPr/>
        </p:nvPicPr>
        <p:blipFill>
          <a:blip r:embed="rId6"/>
          <a:stretch/>
        </p:blipFill>
        <p:spPr>
          <a:xfrm>
            <a:off x="690480" y="4279320"/>
            <a:ext cx="173520" cy="173520"/>
          </a:xfrm>
          <a:prstGeom prst="rect">
            <a:avLst/>
          </a:prstGeom>
          <a:ln w="0">
            <a:noFill/>
          </a:ln>
        </p:spPr>
      </p:pic>
      <p:sp>
        <p:nvSpPr>
          <p:cNvPr id="182" name="Text 22"/>
          <p:cNvSpPr/>
          <p:nvPr/>
        </p:nvSpPr>
        <p:spPr>
          <a:xfrm>
            <a:off x="1115640" y="4114800"/>
            <a:ext cx="3062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f3d3e"/>
                </a:solidFill>
                <a:latin typeface="Calibri"/>
                <a:ea typeface="Calibri"/>
              </a:rPr>
              <a:t>Bridge learning for returnees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3" name="Text 23"/>
          <p:cNvSpPr/>
          <p:nvPr/>
        </p:nvSpPr>
        <p:spPr>
          <a:xfrm>
            <a:off x="4297680" y="4114800"/>
            <a:ext cx="4251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1f2d2e"/>
                </a:solidFill>
                <a:latin typeface="Calibri"/>
                <a:ea typeface="Calibri"/>
              </a:rPr>
              <a:t>Gap-Finder builds a catch-up roadmap so dropouts can rejoin at the right level.</a:t>
            </a:r>
            <a:endParaRPr b="0" lang="en-IN" sz="102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0"/>
          <p:cNvSpPr/>
          <p:nvPr/>
        </p:nvSpPr>
        <p:spPr>
          <a:xfrm>
            <a:off x="457200" y="384120"/>
            <a:ext cx="566640" cy="566640"/>
          </a:xfrm>
          <a:prstGeom prst="ellipse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85" name="Image 0" descr="preencoded.png"/>
          <p:cNvPicPr/>
          <p:nvPr/>
        </p:nvPicPr>
        <p:blipFill>
          <a:blip r:embed="rId1"/>
          <a:stretch/>
        </p:blipFill>
        <p:spPr>
          <a:xfrm>
            <a:off x="585360" y="5119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86" name="Text 1"/>
          <p:cNvSpPr/>
          <p:nvPr/>
        </p:nvSpPr>
        <p:spPr>
          <a:xfrm>
            <a:off x="1170360" y="365760"/>
            <a:ext cx="7497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0f3d3e"/>
                </a:solidFill>
                <a:latin typeface="Cambria"/>
                <a:ea typeface="Cambria"/>
              </a:rPr>
              <a:t>How it all fits together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87" name="Text 2"/>
          <p:cNvSpPr/>
          <p:nvPr/>
        </p:nvSpPr>
        <p:spPr>
          <a:xfrm>
            <a:off x="1170360" y="87768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199" strike="noStrike">
                <a:solidFill>
                  <a:srgbClr val="2a9d8f"/>
                </a:solidFill>
                <a:latin typeface="Calibri"/>
                <a:ea typeface="Calibri"/>
              </a:rPr>
              <a:t>SYSTEM FRAMEWORK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88" name="Text 3"/>
          <p:cNvSpPr/>
          <p:nvPr/>
        </p:nvSpPr>
        <p:spPr>
          <a:xfrm>
            <a:off x="457200" y="117036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148" strike="noStrike">
                <a:solidFill>
                  <a:srgbClr val="5e7472"/>
                </a:solidFill>
                <a:latin typeface="Calibri"/>
                <a:ea typeface="Calibri"/>
              </a:rPr>
              <a:t>WHO USES IT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89" name="Shape 4"/>
          <p:cNvSpPr/>
          <p:nvPr/>
        </p:nvSpPr>
        <p:spPr>
          <a:xfrm>
            <a:off x="457200" y="1417320"/>
            <a:ext cx="1919880" cy="456840"/>
          </a:xfrm>
          <a:prstGeom prst="roundRect">
            <a:avLst>
              <a:gd name="adj" fmla="val 50000"/>
            </a:avLst>
          </a:prstGeom>
          <a:solidFill>
            <a:srgbClr val="0f3d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Text 5"/>
          <p:cNvSpPr/>
          <p:nvPr/>
        </p:nvSpPr>
        <p:spPr>
          <a:xfrm>
            <a:off x="457200" y="141732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Students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91" name="Shape 6"/>
          <p:cNvSpPr/>
          <p:nvPr/>
        </p:nvSpPr>
        <p:spPr>
          <a:xfrm>
            <a:off x="2532960" y="1417320"/>
            <a:ext cx="1919880" cy="456840"/>
          </a:xfrm>
          <a:prstGeom prst="roundRect">
            <a:avLst>
              <a:gd name="adj" fmla="val 50000"/>
            </a:avLst>
          </a:prstGeom>
          <a:solidFill>
            <a:srgbClr val="0f3d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Text 7"/>
          <p:cNvSpPr/>
          <p:nvPr/>
        </p:nvSpPr>
        <p:spPr>
          <a:xfrm>
            <a:off x="2532960" y="141732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Families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93" name="Shape 8"/>
          <p:cNvSpPr/>
          <p:nvPr/>
        </p:nvSpPr>
        <p:spPr>
          <a:xfrm>
            <a:off x="4608720" y="1417320"/>
            <a:ext cx="1919880" cy="456840"/>
          </a:xfrm>
          <a:prstGeom prst="roundRect">
            <a:avLst>
              <a:gd name="adj" fmla="val 50000"/>
            </a:avLst>
          </a:prstGeom>
          <a:solidFill>
            <a:srgbClr val="0f3d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Text 9"/>
          <p:cNvSpPr/>
          <p:nvPr/>
        </p:nvSpPr>
        <p:spPr>
          <a:xfrm>
            <a:off x="4608720" y="141732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Student-translators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95" name="Shape 10"/>
          <p:cNvSpPr/>
          <p:nvPr/>
        </p:nvSpPr>
        <p:spPr>
          <a:xfrm>
            <a:off x="6684120" y="1417320"/>
            <a:ext cx="1919880" cy="456840"/>
          </a:xfrm>
          <a:prstGeom prst="roundRect">
            <a:avLst>
              <a:gd name="adj" fmla="val 50000"/>
            </a:avLst>
          </a:prstGeom>
          <a:solidFill>
            <a:srgbClr val="0f3d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Text 11"/>
          <p:cNvSpPr/>
          <p:nvPr/>
        </p:nvSpPr>
        <p:spPr>
          <a:xfrm>
            <a:off x="6684120" y="141732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NGOs &amp; mentors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97" name="Shape 12"/>
          <p:cNvSpPr/>
          <p:nvPr/>
        </p:nvSpPr>
        <p:spPr>
          <a:xfrm>
            <a:off x="4572000" y="1920240"/>
            <a:ext cx="360" cy="200880"/>
          </a:xfrm>
          <a:prstGeom prst="line">
            <a:avLst/>
          </a:prstGeom>
          <a:ln w="25400">
            <a:solidFill>
              <a:srgbClr val="5e747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Shape 13"/>
          <p:cNvSpPr/>
          <p:nvPr/>
        </p:nvSpPr>
        <p:spPr>
          <a:xfrm>
            <a:off x="457200" y="2176200"/>
            <a:ext cx="8229240" cy="511560"/>
          </a:xfrm>
          <a:prstGeom prst="roundRect">
            <a:avLst>
              <a:gd name="adj" fmla="val 14286"/>
            </a:avLst>
          </a:prstGeom>
          <a:solidFill>
            <a:srgbClr val="2a9d8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199" name="Image 1" descr="preencoded.png"/>
          <p:cNvPicPr/>
          <p:nvPr/>
        </p:nvPicPr>
        <p:blipFill>
          <a:blip r:embed="rId2"/>
          <a:stretch/>
        </p:blipFill>
        <p:spPr>
          <a:xfrm>
            <a:off x="713160" y="23133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200" name="Text 14"/>
          <p:cNvSpPr/>
          <p:nvPr/>
        </p:nvSpPr>
        <p:spPr>
          <a:xfrm>
            <a:off x="1097280" y="2176200"/>
            <a:ext cx="74062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RootED website  ·  multilingual  · financial support  </a:t>
            </a: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· counseling services to families  · micro-income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01" name="Shape 15"/>
          <p:cNvSpPr/>
          <p:nvPr/>
        </p:nvSpPr>
        <p:spPr>
          <a:xfrm>
            <a:off x="4572000" y="2724840"/>
            <a:ext cx="360" cy="201240"/>
          </a:xfrm>
          <a:prstGeom prst="line">
            <a:avLst/>
          </a:prstGeom>
          <a:ln w="25400">
            <a:solidFill>
              <a:srgbClr val="5e747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Shape 16"/>
          <p:cNvSpPr/>
          <p:nvPr/>
        </p:nvSpPr>
        <p:spPr>
          <a:xfrm>
            <a:off x="457200" y="2980800"/>
            <a:ext cx="1919880" cy="959760"/>
          </a:xfrm>
          <a:prstGeom prst="roundRect">
            <a:avLst>
              <a:gd name="adj" fmla="val 6667"/>
            </a:avLst>
          </a:prstGeom>
          <a:solidFill>
            <a:srgbClr val="eef5f4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3" name="Shape 17"/>
          <p:cNvSpPr/>
          <p:nvPr/>
        </p:nvSpPr>
        <p:spPr>
          <a:xfrm>
            <a:off x="603360" y="3127320"/>
            <a:ext cx="383760" cy="383760"/>
          </a:xfrm>
          <a:prstGeom prst="ellipse">
            <a:avLst/>
          </a:prstGeom>
          <a:solidFill>
            <a:srgbClr val="1474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04" name="Image 2" descr="preencoded.png"/>
          <p:cNvPicPr/>
          <p:nvPr/>
        </p:nvPicPr>
        <p:blipFill>
          <a:blip r:embed="rId3"/>
          <a:stretch/>
        </p:blipFill>
        <p:spPr>
          <a:xfrm>
            <a:off x="704160" y="313632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205" name="Text 18"/>
          <p:cNvSpPr/>
          <p:nvPr/>
        </p:nvSpPr>
        <p:spPr>
          <a:xfrm>
            <a:off x="1060560" y="3054240"/>
            <a:ext cx="1279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f3d3e"/>
                </a:solidFill>
                <a:latin typeface="Calibri"/>
                <a:ea typeface="Calibri"/>
              </a:rPr>
              <a:t>Content &amp; Translation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06" name="Text 19"/>
          <p:cNvSpPr/>
          <p:nvPr/>
        </p:nvSpPr>
        <p:spPr>
          <a:xfrm>
            <a:off x="585360" y="3529440"/>
            <a:ext cx="1691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30" spc="-1" strike="noStrike">
                <a:solidFill>
                  <a:srgbClr val="5e7472"/>
                </a:solidFill>
                <a:latin typeface="Calibri"/>
                <a:ea typeface="Calibri"/>
              </a:rPr>
              <a:t>transcribe · translate · vet</a:t>
            </a:r>
            <a:endParaRPr b="0" lang="en-IN" sz="830" spc="-1" strike="noStrike">
              <a:latin typeface="Arial"/>
            </a:endParaRPr>
          </a:p>
        </p:txBody>
      </p:sp>
      <p:sp>
        <p:nvSpPr>
          <p:cNvPr id="207" name="Shape 20"/>
          <p:cNvSpPr/>
          <p:nvPr/>
        </p:nvSpPr>
        <p:spPr>
          <a:xfrm>
            <a:off x="2532960" y="2980800"/>
            <a:ext cx="1919880" cy="959760"/>
          </a:xfrm>
          <a:prstGeom prst="roundRect">
            <a:avLst>
              <a:gd name="adj" fmla="val 6667"/>
            </a:avLst>
          </a:prstGeom>
          <a:solidFill>
            <a:srgbClr val="eef5f4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8" name="Shape 21"/>
          <p:cNvSpPr/>
          <p:nvPr/>
        </p:nvSpPr>
        <p:spPr>
          <a:xfrm>
            <a:off x="2679120" y="3127320"/>
            <a:ext cx="383760" cy="383760"/>
          </a:xfrm>
          <a:prstGeom prst="ellipse">
            <a:avLst/>
          </a:prstGeom>
          <a:solidFill>
            <a:srgbClr val="1474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09" name="Image 3" descr="preencoded.png"/>
          <p:cNvPicPr/>
          <p:nvPr/>
        </p:nvPicPr>
        <p:blipFill>
          <a:blip r:embed="rId4"/>
          <a:stretch/>
        </p:blipFill>
        <p:spPr>
          <a:xfrm>
            <a:off x="2779920" y="313632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210" name="Text 22"/>
          <p:cNvSpPr/>
          <p:nvPr/>
        </p:nvSpPr>
        <p:spPr>
          <a:xfrm>
            <a:off x="3136320" y="3054240"/>
            <a:ext cx="1279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f3d3e"/>
                </a:solidFill>
                <a:latin typeface="Calibri"/>
                <a:ea typeface="Calibri"/>
              </a:rPr>
              <a:t>Learning Diagnostics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11" name="Text 23"/>
          <p:cNvSpPr/>
          <p:nvPr/>
        </p:nvSpPr>
        <p:spPr>
          <a:xfrm>
            <a:off x="2660760" y="3529440"/>
            <a:ext cx="1691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30" spc="-1" strike="noStrike">
                <a:solidFill>
                  <a:srgbClr val="5e7472"/>
                </a:solidFill>
                <a:latin typeface="Calibri"/>
                <a:ea typeface="Calibri"/>
              </a:rPr>
              <a:t>gap-finder · roadmaps</a:t>
            </a:r>
            <a:endParaRPr b="0" lang="en-IN" sz="830" spc="-1" strike="noStrike">
              <a:latin typeface="Arial"/>
            </a:endParaRPr>
          </a:p>
        </p:txBody>
      </p:sp>
      <p:sp>
        <p:nvSpPr>
          <p:cNvPr id="212" name="Shape 24"/>
          <p:cNvSpPr/>
          <p:nvPr/>
        </p:nvSpPr>
        <p:spPr>
          <a:xfrm>
            <a:off x="4608720" y="2980800"/>
            <a:ext cx="1919880" cy="959760"/>
          </a:xfrm>
          <a:prstGeom prst="roundRect">
            <a:avLst>
              <a:gd name="adj" fmla="val 6667"/>
            </a:avLst>
          </a:prstGeom>
          <a:solidFill>
            <a:srgbClr val="eef5f4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3" name="Shape 25"/>
          <p:cNvSpPr/>
          <p:nvPr/>
        </p:nvSpPr>
        <p:spPr>
          <a:xfrm>
            <a:off x="4754880" y="3127320"/>
            <a:ext cx="383760" cy="383760"/>
          </a:xfrm>
          <a:prstGeom prst="ellipse">
            <a:avLst/>
          </a:prstGeom>
          <a:solidFill>
            <a:srgbClr val="1474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14" name="Image 4" descr="preencoded.png"/>
          <p:cNvPicPr/>
          <p:nvPr/>
        </p:nvPicPr>
        <p:blipFill>
          <a:blip r:embed="rId5"/>
          <a:stretch/>
        </p:blipFill>
        <p:spPr>
          <a:xfrm>
            <a:off x="4855320" y="313632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215" name="Text 26"/>
          <p:cNvSpPr/>
          <p:nvPr/>
        </p:nvSpPr>
        <p:spPr>
          <a:xfrm>
            <a:off x="5212080" y="3054240"/>
            <a:ext cx="1279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f3d3e"/>
                </a:solidFill>
                <a:latin typeface="Calibri"/>
                <a:ea typeface="Calibri"/>
              </a:rPr>
              <a:t>Support &amp; RAG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16" name="Text 27"/>
          <p:cNvSpPr/>
          <p:nvPr/>
        </p:nvSpPr>
        <p:spPr>
          <a:xfrm>
            <a:off x="4736520" y="3529440"/>
            <a:ext cx="1691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30" spc="-1" strike="noStrike">
                <a:solidFill>
                  <a:srgbClr val="5e7472"/>
                </a:solidFill>
                <a:latin typeface="Calibri"/>
                <a:ea typeface="Calibri"/>
              </a:rPr>
              <a:t>chatbot · grievances</a:t>
            </a:r>
            <a:endParaRPr b="0" lang="en-IN" sz="830" spc="-1" strike="noStrike">
              <a:latin typeface="Arial"/>
            </a:endParaRPr>
          </a:p>
        </p:txBody>
      </p:sp>
      <p:sp>
        <p:nvSpPr>
          <p:cNvPr id="217" name="Shape 28"/>
          <p:cNvSpPr/>
          <p:nvPr/>
        </p:nvSpPr>
        <p:spPr>
          <a:xfrm>
            <a:off x="6684120" y="2980800"/>
            <a:ext cx="1919880" cy="959760"/>
          </a:xfrm>
          <a:prstGeom prst="roundRect">
            <a:avLst>
              <a:gd name="adj" fmla="val 6667"/>
            </a:avLst>
          </a:prstGeom>
          <a:solidFill>
            <a:srgbClr val="eef5f4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8" name="Shape 29"/>
          <p:cNvSpPr/>
          <p:nvPr/>
        </p:nvSpPr>
        <p:spPr>
          <a:xfrm>
            <a:off x="6830640" y="3127320"/>
            <a:ext cx="383760" cy="383760"/>
          </a:xfrm>
          <a:prstGeom prst="ellipse">
            <a:avLst/>
          </a:prstGeom>
          <a:solidFill>
            <a:srgbClr val="1474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19" name="Image 5" descr="preencoded.png"/>
          <p:cNvPicPr/>
          <p:nvPr/>
        </p:nvPicPr>
        <p:blipFill>
          <a:blip r:embed="rId6"/>
          <a:stretch/>
        </p:blipFill>
        <p:spPr>
          <a:xfrm>
            <a:off x="6931080" y="313632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220" name="Text 30"/>
          <p:cNvSpPr/>
          <p:nvPr/>
        </p:nvSpPr>
        <p:spPr>
          <a:xfrm>
            <a:off x="7287840" y="3054240"/>
            <a:ext cx="1279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f3d3e"/>
                </a:solidFill>
                <a:latin typeface="Calibri"/>
                <a:ea typeface="Calibri"/>
              </a:rPr>
              <a:t>Community &amp; Incentives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21" name="Text 31"/>
          <p:cNvSpPr/>
          <p:nvPr/>
        </p:nvSpPr>
        <p:spPr>
          <a:xfrm>
            <a:off x="6812280" y="3529440"/>
            <a:ext cx="1691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30" spc="-1" strike="noStrike">
                <a:solidFill>
                  <a:srgbClr val="5e7472"/>
                </a:solidFill>
                <a:latin typeface="Calibri"/>
                <a:ea typeface="Calibri"/>
              </a:rPr>
              <a:t>payouts · NGOs · reels</a:t>
            </a:r>
            <a:endParaRPr b="0" lang="en-IN" sz="830" spc="-1" strike="noStrike">
              <a:latin typeface="Arial"/>
            </a:endParaRPr>
          </a:p>
        </p:txBody>
      </p:sp>
      <p:sp>
        <p:nvSpPr>
          <p:cNvPr id="222" name="Shape 32"/>
          <p:cNvSpPr/>
          <p:nvPr/>
        </p:nvSpPr>
        <p:spPr>
          <a:xfrm>
            <a:off x="4572000" y="3977640"/>
            <a:ext cx="360" cy="182880"/>
          </a:xfrm>
          <a:prstGeom prst="line">
            <a:avLst/>
          </a:prstGeom>
          <a:ln w="25400">
            <a:solidFill>
              <a:srgbClr val="5e747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Shape 33"/>
          <p:cNvSpPr/>
          <p:nvPr/>
        </p:nvSpPr>
        <p:spPr>
          <a:xfrm>
            <a:off x="457200" y="4206240"/>
            <a:ext cx="8229240" cy="566640"/>
          </a:xfrm>
          <a:prstGeom prst="roundRect">
            <a:avLst>
              <a:gd name="adj" fmla="val 12903"/>
            </a:avLst>
          </a:prstGeom>
          <a:solidFill>
            <a:srgbClr val="0f3d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Text 34"/>
          <p:cNvSpPr/>
          <p:nvPr/>
        </p:nvSpPr>
        <p:spPr>
          <a:xfrm>
            <a:off x="640080" y="4206240"/>
            <a:ext cx="7863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e9a23b"/>
                </a:solidFill>
                <a:latin typeface="Calibri"/>
                <a:ea typeface="Calibri"/>
              </a:rPr>
              <a:t>FOUNDATIONS   </a:t>
            </a:r>
            <a:r>
              <a:rPr b="0" lang="en-US" sz="1050" spc="-1" strike="noStrike">
                <a:solidFill>
                  <a:srgbClr val="cfe6e2"/>
                </a:solidFill>
                <a:latin typeface="Calibri"/>
                <a:ea typeface="Calibri"/>
              </a:rPr>
              <a:t>AI4Bharat ASR + IndicTrans2  ·  Vector DB (RAG)  ·  Concept graph  ·  UPI payouts  ·  Cloud + CDN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0"/>
          <p:cNvSpPr/>
          <p:nvPr/>
        </p:nvSpPr>
        <p:spPr>
          <a:xfrm>
            <a:off x="457200" y="384120"/>
            <a:ext cx="566640" cy="566640"/>
          </a:xfrm>
          <a:prstGeom prst="ellipse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26" name="Image 0" descr="preencoded.png"/>
          <p:cNvPicPr/>
          <p:nvPr/>
        </p:nvPicPr>
        <p:blipFill>
          <a:blip r:embed="rId1"/>
          <a:stretch/>
        </p:blipFill>
        <p:spPr>
          <a:xfrm>
            <a:off x="585360" y="5119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227" name="Text 1"/>
          <p:cNvSpPr/>
          <p:nvPr/>
        </p:nvSpPr>
        <p:spPr>
          <a:xfrm>
            <a:off x="1170360" y="365760"/>
            <a:ext cx="7497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0f3d3e"/>
                </a:solidFill>
                <a:latin typeface="Cambria"/>
                <a:ea typeface="Cambria"/>
              </a:rPr>
              <a:t>Pipeline 1 — Learn &amp; Earn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28" name="Text 2"/>
          <p:cNvSpPr/>
          <p:nvPr/>
        </p:nvSpPr>
        <p:spPr>
          <a:xfrm>
            <a:off x="1170360" y="87768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199" strike="noStrike">
                <a:solidFill>
                  <a:srgbClr val="2a9d8f"/>
                </a:solidFill>
                <a:latin typeface="Calibri"/>
                <a:ea typeface="Calibri"/>
              </a:rPr>
              <a:t>FEATURE 1 · TRANSCRIPTION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29" name="Text 3"/>
          <p:cNvSpPr/>
          <p:nvPr/>
        </p:nvSpPr>
        <p:spPr>
          <a:xfrm>
            <a:off x="457200" y="11887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f2d2e"/>
                </a:solidFill>
                <a:latin typeface="Calibri"/>
                <a:ea typeface="Calibri"/>
              </a:rPr>
              <a:t>Turn the world's best free lectures into native-language transcripts — and pay the students who make them.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0" name="Shape 4"/>
          <p:cNvSpPr/>
          <p:nvPr/>
        </p:nvSpPr>
        <p:spPr>
          <a:xfrm>
            <a:off x="457200" y="1874520"/>
            <a:ext cx="1416960" cy="1416960"/>
          </a:xfrm>
          <a:prstGeom prst="roundRect">
            <a:avLst>
              <a:gd name="adj" fmla="val 5161"/>
            </a:avLst>
          </a:prstGeom>
          <a:solidFill>
            <a:srgbClr val="eef5f4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1" name="Shape 5"/>
          <p:cNvSpPr/>
          <p:nvPr/>
        </p:nvSpPr>
        <p:spPr>
          <a:xfrm>
            <a:off x="964800" y="2020680"/>
            <a:ext cx="402120" cy="402120"/>
          </a:xfrm>
          <a:prstGeom prst="ellipse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Text 6"/>
          <p:cNvSpPr/>
          <p:nvPr/>
        </p:nvSpPr>
        <p:spPr>
          <a:xfrm>
            <a:off x="964800" y="202068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33" name="Text 7"/>
          <p:cNvSpPr/>
          <p:nvPr/>
        </p:nvSpPr>
        <p:spPr>
          <a:xfrm>
            <a:off x="530280" y="2477880"/>
            <a:ext cx="1270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3d3e"/>
                </a:solidFill>
                <a:latin typeface="Calibri"/>
                <a:ea typeface="Calibri"/>
              </a:rPr>
              <a:t>Source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4" name="Text 8"/>
          <p:cNvSpPr/>
          <p:nvPr/>
        </p:nvSpPr>
        <p:spPr>
          <a:xfrm>
            <a:off x="530280" y="2853000"/>
            <a:ext cx="1270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5e7472"/>
                </a:solidFill>
                <a:latin typeface="Calibri"/>
                <a:ea typeface="Calibri"/>
              </a:rPr>
              <a:t>Academic &amp; vocational open lectures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235" name="Shape 9"/>
          <p:cNvSpPr/>
          <p:nvPr/>
        </p:nvSpPr>
        <p:spPr>
          <a:xfrm>
            <a:off x="1901880" y="2583000"/>
            <a:ext cx="228600" cy="360"/>
          </a:xfrm>
          <a:prstGeom prst="line">
            <a:avLst/>
          </a:prstGeom>
          <a:ln w="28575">
            <a:solidFill>
              <a:srgbClr val="2a9d8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Shape 10"/>
          <p:cNvSpPr/>
          <p:nvPr/>
        </p:nvSpPr>
        <p:spPr>
          <a:xfrm>
            <a:off x="2157840" y="1874520"/>
            <a:ext cx="1416960" cy="1416960"/>
          </a:xfrm>
          <a:prstGeom prst="roundRect">
            <a:avLst>
              <a:gd name="adj" fmla="val 5161"/>
            </a:avLst>
          </a:prstGeom>
          <a:solidFill>
            <a:srgbClr val="eef5f4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7" name="Shape 11"/>
          <p:cNvSpPr/>
          <p:nvPr/>
        </p:nvSpPr>
        <p:spPr>
          <a:xfrm>
            <a:off x="2665440" y="2020680"/>
            <a:ext cx="402120" cy="402120"/>
          </a:xfrm>
          <a:prstGeom prst="ellipse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Text 12"/>
          <p:cNvSpPr/>
          <p:nvPr/>
        </p:nvSpPr>
        <p:spPr>
          <a:xfrm>
            <a:off x="2665440" y="202068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39" name="Text 13"/>
          <p:cNvSpPr/>
          <p:nvPr/>
        </p:nvSpPr>
        <p:spPr>
          <a:xfrm>
            <a:off x="2231280" y="2477880"/>
            <a:ext cx="1270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3d3e"/>
                </a:solidFill>
                <a:latin typeface="Calibri"/>
                <a:ea typeface="Calibri"/>
              </a:rPr>
              <a:t>Auto-transcribe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0" name="Text 14"/>
          <p:cNvSpPr/>
          <p:nvPr/>
        </p:nvSpPr>
        <p:spPr>
          <a:xfrm>
            <a:off x="2231280" y="2853000"/>
            <a:ext cx="1270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5e7472"/>
                </a:solidFill>
                <a:latin typeface="Calibri"/>
                <a:ea typeface="Calibri"/>
              </a:rPr>
              <a:t>ASR generates a base transcript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241" name="Shape 15"/>
          <p:cNvSpPr/>
          <p:nvPr/>
        </p:nvSpPr>
        <p:spPr>
          <a:xfrm>
            <a:off x="3602520" y="2583000"/>
            <a:ext cx="228600" cy="360"/>
          </a:xfrm>
          <a:prstGeom prst="line">
            <a:avLst/>
          </a:prstGeom>
          <a:ln w="28575">
            <a:solidFill>
              <a:srgbClr val="2a9d8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Shape 16"/>
          <p:cNvSpPr/>
          <p:nvPr/>
        </p:nvSpPr>
        <p:spPr>
          <a:xfrm>
            <a:off x="3858840" y="1874520"/>
            <a:ext cx="1416960" cy="1416960"/>
          </a:xfrm>
          <a:prstGeom prst="roundRect">
            <a:avLst>
              <a:gd name="adj" fmla="val 5161"/>
            </a:avLst>
          </a:prstGeom>
          <a:solidFill>
            <a:srgbClr val="eef5f4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3" name="Shape 17"/>
          <p:cNvSpPr/>
          <p:nvPr/>
        </p:nvSpPr>
        <p:spPr>
          <a:xfrm>
            <a:off x="4366440" y="2020680"/>
            <a:ext cx="402120" cy="402120"/>
          </a:xfrm>
          <a:prstGeom prst="ellipse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Text 18"/>
          <p:cNvSpPr/>
          <p:nvPr/>
        </p:nvSpPr>
        <p:spPr>
          <a:xfrm>
            <a:off x="4366440" y="202068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45" name="Text 19"/>
          <p:cNvSpPr/>
          <p:nvPr/>
        </p:nvSpPr>
        <p:spPr>
          <a:xfrm>
            <a:off x="3931920" y="2477880"/>
            <a:ext cx="1270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3d3e"/>
                </a:solidFill>
                <a:latin typeface="Calibri"/>
                <a:ea typeface="Calibri"/>
              </a:rPr>
              <a:t>Translate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6" name="Text 20"/>
          <p:cNvSpPr/>
          <p:nvPr/>
        </p:nvSpPr>
        <p:spPr>
          <a:xfrm>
            <a:off x="3931920" y="2853000"/>
            <a:ext cx="1270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5e7472"/>
                </a:solidFill>
                <a:latin typeface="Calibri"/>
                <a:ea typeface="Calibri"/>
              </a:rPr>
              <a:t>IndicTrans2 → native-language draft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247" name="Shape 21"/>
          <p:cNvSpPr/>
          <p:nvPr/>
        </p:nvSpPr>
        <p:spPr>
          <a:xfrm>
            <a:off x="5303520" y="2583000"/>
            <a:ext cx="228600" cy="360"/>
          </a:xfrm>
          <a:prstGeom prst="line">
            <a:avLst/>
          </a:prstGeom>
          <a:ln w="28575">
            <a:solidFill>
              <a:srgbClr val="2a9d8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Shape 22"/>
          <p:cNvSpPr/>
          <p:nvPr/>
        </p:nvSpPr>
        <p:spPr>
          <a:xfrm>
            <a:off x="5559480" y="1874520"/>
            <a:ext cx="1416960" cy="1416960"/>
          </a:xfrm>
          <a:prstGeom prst="roundRect">
            <a:avLst>
              <a:gd name="adj" fmla="val 5161"/>
            </a:avLst>
          </a:prstGeom>
          <a:solidFill>
            <a:srgbClr val="eef5f4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9" name="Shape 23"/>
          <p:cNvSpPr/>
          <p:nvPr/>
        </p:nvSpPr>
        <p:spPr>
          <a:xfrm>
            <a:off x="6067080" y="2020680"/>
            <a:ext cx="402120" cy="402120"/>
          </a:xfrm>
          <a:prstGeom prst="ellipse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Text 24"/>
          <p:cNvSpPr/>
          <p:nvPr/>
        </p:nvSpPr>
        <p:spPr>
          <a:xfrm>
            <a:off x="6067080" y="202068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51" name="Text 25"/>
          <p:cNvSpPr/>
          <p:nvPr/>
        </p:nvSpPr>
        <p:spPr>
          <a:xfrm>
            <a:off x="5632560" y="2477880"/>
            <a:ext cx="1270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3d3e"/>
                </a:solidFill>
                <a:latin typeface="Calibri"/>
                <a:ea typeface="Calibri"/>
              </a:rPr>
              <a:t>Review &amp; vet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2" name="Text 26"/>
          <p:cNvSpPr/>
          <p:nvPr/>
        </p:nvSpPr>
        <p:spPr>
          <a:xfrm>
            <a:off x="5632560" y="2853000"/>
            <a:ext cx="1270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5e7472"/>
                </a:solidFill>
                <a:latin typeface="Calibri"/>
                <a:ea typeface="Calibri"/>
              </a:rPr>
              <a:t>Verified students fix + peer-check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253" name="Shape 27"/>
          <p:cNvSpPr/>
          <p:nvPr/>
        </p:nvSpPr>
        <p:spPr>
          <a:xfrm>
            <a:off x="7004160" y="2583000"/>
            <a:ext cx="228600" cy="360"/>
          </a:xfrm>
          <a:prstGeom prst="line">
            <a:avLst/>
          </a:prstGeom>
          <a:ln w="28575">
            <a:solidFill>
              <a:srgbClr val="2a9d8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Shape 28"/>
          <p:cNvSpPr/>
          <p:nvPr/>
        </p:nvSpPr>
        <p:spPr>
          <a:xfrm>
            <a:off x="7260480" y="1874520"/>
            <a:ext cx="1416960" cy="1416960"/>
          </a:xfrm>
          <a:prstGeom prst="roundRect">
            <a:avLst>
              <a:gd name="adj" fmla="val 5161"/>
            </a:avLst>
          </a:prstGeom>
          <a:solidFill>
            <a:srgbClr val="eef5f4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5" name="Shape 29"/>
          <p:cNvSpPr/>
          <p:nvPr/>
        </p:nvSpPr>
        <p:spPr>
          <a:xfrm>
            <a:off x="7767720" y="2020680"/>
            <a:ext cx="402120" cy="402120"/>
          </a:xfrm>
          <a:prstGeom prst="ellipse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Text 30"/>
          <p:cNvSpPr/>
          <p:nvPr/>
        </p:nvSpPr>
        <p:spPr>
          <a:xfrm>
            <a:off x="7767720" y="202068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57" name="Text 31"/>
          <p:cNvSpPr/>
          <p:nvPr/>
        </p:nvSpPr>
        <p:spPr>
          <a:xfrm>
            <a:off x="7333560" y="2477880"/>
            <a:ext cx="1270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3d3e"/>
                </a:solidFill>
                <a:latin typeface="Calibri"/>
                <a:ea typeface="Calibri"/>
              </a:rPr>
              <a:t>Publish + pay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8" name="Text 32"/>
          <p:cNvSpPr/>
          <p:nvPr/>
        </p:nvSpPr>
        <p:spPr>
          <a:xfrm>
            <a:off x="7333560" y="2853000"/>
            <a:ext cx="1270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5e7472"/>
                </a:solidFill>
                <a:latin typeface="Calibri"/>
                <a:ea typeface="Calibri"/>
              </a:rPr>
              <a:t>Free to learn · UPI micro-payout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259" name="Shape 33"/>
          <p:cNvSpPr/>
          <p:nvPr/>
        </p:nvSpPr>
        <p:spPr>
          <a:xfrm>
            <a:off x="457200" y="3611880"/>
            <a:ext cx="8229240" cy="1005480"/>
          </a:xfrm>
          <a:prstGeom prst="roundRect">
            <a:avLst>
              <a:gd name="adj" fmla="val 7273"/>
            </a:avLst>
          </a:prstGeom>
          <a:solidFill>
            <a:srgbClr val="fbf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60" name="Image 1" descr="preencoded.png"/>
          <p:cNvPicPr/>
          <p:nvPr/>
        </p:nvPicPr>
        <p:blipFill>
          <a:blip r:embed="rId2"/>
          <a:stretch/>
        </p:blipFill>
        <p:spPr>
          <a:xfrm>
            <a:off x="713160" y="38221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261" name="Text 34"/>
          <p:cNvSpPr/>
          <p:nvPr/>
        </p:nvSpPr>
        <p:spPr>
          <a:xfrm>
            <a:off x="1188720" y="3639240"/>
            <a:ext cx="731484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0f3d3e"/>
                </a:solidFill>
                <a:latin typeface="Calibri"/>
                <a:ea typeface="Calibri"/>
              </a:rPr>
              <a:t>Why it works:  </a:t>
            </a:r>
            <a:r>
              <a:rPr b="0" lang="en-US" sz="1150" spc="-1" strike="noStrike">
                <a:solidFill>
                  <a:srgbClr val="1f2d2e"/>
                </a:solidFill>
                <a:latin typeface="Calibri"/>
                <a:ea typeface="Calibri"/>
              </a:rPr>
              <a:t>the student earns while learning, instead of choosing between the two. Every vetted transcript is also documented, credentialed work — a verifiable 'skills passport' they can show employers. AI drafts; humans guarantee the quality.</a:t>
            </a:r>
            <a:endParaRPr b="0" lang="en-IN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Shape 0"/>
          <p:cNvSpPr/>
          <p:nvPr/>
        </p:nvSpPr>
        <p:spPr>
          <a:xfrm>
            <a:off x="457200" y="384120"/>
            <a:ext cx="566640" cy="566640"/>
          </a:xfrm>
          <a:prstGeom prst="ellipse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63" name="Image 0" descr="preencoded.png"/>
          <p:cNvPicPr/>
          <p:nvPr/>
        </p:nvPicPr>
        <p:blipFill>
          <a:blip r:embed="rId1"/>
          <a:stretch/>
        </p:blipFill>
        <p:spPr>
          <a:xfrm>
            <a:off x="585360" y="5119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264" name="Text 1"/>
          <p:cNvSpPr/>
          <p:nvPr/>
        </p:nvSpPr>
        <p:spPr>
          <a:xfrm>
            <a:off x="1170360" y="365760"/>
            <a:ext cx="7497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0f3d3e"/>
                </a:solidFill>
                <a:latin typeface="Cambria"/>
                <a:ea typeface="Cambria"/>
              </a:rPr>
              <a:t>Pipeline 2 — Gamified Gap-Finder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65" name="Text 2"/>
          <p:cNvSpPr/>
          <p:nvPr/>
        </p:nvSpPr>
        <p:spPr>
          <a:xfrm>
            <a:off x="1170360" y="87768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199" strike="noStrike">
                <a:solidFill>
                  <a:srgbClr val="2a9d8f"/>
                </a:solidFill>
                <a:latin typeface="Calibri"/>
                <a:ea typeface="Calibri"/>
              </a:rPr>
              <a:t>FEATURE 2 · DIAGNOSTICS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66" name="Text 3"/>
          <p:cNvSpPr/>
          <p:nvPr/>
        </p:nvSpPr>
        <p:spPr>
          <a:xfrm>
            <a:off x="457200" y="11887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f2d2e"/>
                </a:solidFill>
                <a:latin typeface="Calibri"/>
                <a:ea typeface="Calibri"/>
              </a:rPr>
              <a:t>Students rarely fail because of today's topic — they fail because of a basic they missed long ago. We find that root gap and close it.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67" name="Shape 4"/>
          <p:cNvSpPr/>
          <p:nvPr/>
        </p:nvSpPr>
        <p:spPr>
          <a:xfrm>
            <a:off x="457200" y="1874520"/>
            <a:ext cx="1416960" cy="1416960"/>
          </a:xfrm>
          <a:prstGeom prst="roundRect">
            <a:avLst>
              <a:gd name="adj" fmla="val 5161"/>
            </a:avLst>
          </a:prstGeom>
          <a:solidFill>
            <a:srgbClr val="eef5f4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8" name="Shape 5"/>
          <p:cNvSpPr/>
          <p:nvPr/>
        </p:nvSpPr>
        <p:spPr>
          <a:xfrm>
            <a:off x="964800" y="2020680"/>
            <a:ext cx="402120" cy="402120"/>
          </a:xfrm>
          <a:prstGeom prst="ellipse">
            <a:avLst/>
          </a:prstGeom>
          <a:solidFill>
            <a:srgbClr val="1474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Text 6"/>
          <p:cNvSpPr/>
          <p:nvPr/>
        </p:nvSpPr>
        <p:spPr>
          <a:xfrm>
            <a:off x="964800" y="202068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70" name="Text 7"/>
          <p:cNvSpPr/>
          <p:nvPr/>
        </p:nvSpPr>
        <p:spPr>
          <a:xfrm>
            <a:off x="530280" y="2477880"/>
            <a:ext cx="1270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3d3e"/>
                </a:solidFill>
                <a:latin typeface="Calibri"/>
                <a:ea typeface="Calibri"/>
              </a:rPr>
              <a:t>Quick quiz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1" name="Text 8"/>
          <p:cNvSpPr/>
          <p:nvPr/>
        </p:nvSpPr>
        <p:spPr>
          <a:xfrm>
            <a:off x="530280" y="2853000"/>
            <a:ext cx="1270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5e7472"/>
                </a:solidFill>
                <a:latin typeface="Calibri"/>
                <a:ea typeface="Calibri"/>
              </a:rPr>
              <a:t>Short adaptive diagnostic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272" name="Shape 9"/>
          <p:cNvSpPr/>
          <p:nvPr/>
        </p:nvSpPr>
        <p:spPr>
          <a:xfrm>
            <a:off x="1901880" y="2583000"/>
            <a:ext cx="228600" cy="360"/>
          </a:xfrm>
          <a:prstGeom prst="line">
            <a:avLst/>
          </a:prstGeom>
          <a:ln w="28575">
            <a:solidFill>
              <a:srgbClr val="14746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Shape 10"/>
          <p:cNvSpPr/>
          <p:nvPr/>
        </p:nvSpPr>
        <p:spPr>
          <a:xfrm>
            <a:off x="2157840" y="1874520"/>
            <a:ext cx="1416960" cy="1416960"/>
          </a:xfrm>
          <a:prstGeom prst="roundRect">
            <a:avLst>
              <a:gd name="adj" fmla="val 5161"/>
            </a:avLst>
          </a:prstGeom>
          <a:solidFill>
            <a:srgbClr val="eef5f4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4" name="Shape 11"/>
          <p:cNvSpPr/>
          <p:nvPr/>
        </p:nvSpPr>
        <p:spPr>
          <a:xfrm>
            <a:off x="2665440" y="2020680"/>
            <a:ext cx="402120" cy="402120"/>
          </a:xfrm>
          <a:prstGeom prst="ellipse">
            <a:avLst/>
          </a:prstGeom>
          <a:solidFill>
            <a:srgbClr val="1474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Text 12"/>
          <p:cNvSpPr/>
          <p:nvPr/>
        </p:nvSpPr>
        <p:spPr>
          <a:xfrm>
            <a:off x="2665440" y="202068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76" name="Text 13"/>
          <p:cNvSpPr/>
          <p:nvPr/>
        </p:nvSpPr>
        <p:spPr>
          <a:xfrm>
            <a:off x="2231280" y="2477880"/>
            <a:ext cx="1270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3d3e"/>
                </a:solidFill>
                <a:latin typeface="Calibri"/>
                <a:ea typeface="Calibri"/>
              </a:rPr>
              <a:t>Map concepts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7" name="Text 14"/>
          <p:cNvSpPr/>
          <p:nvPr/>
        </p:nvSpPr>
        <p:spPr>
          <a:xfrm>
            <a:off x="2231280" y="2853000"/>
            <a:ext cx="1270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5e7472"/>
                </a:solidFill>
                <a:latin typeface="Calibri"/>
                <a:ea typeface="Calibri"/>
              </a:rPr>
              <a:t>Answers → prerequisite graph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278" name="Shape 15"/>
          <p:cNvSpPr/>
          <p:nvPr/>
        </p:nvSpPr>
        <p:spPr>
          <a:xfrm>
            <a:off x="3602520" y="2583000"/>
            <a:ext cx="228600" cy="360"/>
          </a:xfrm>
          <a:prstGeom prst="line">
            <a:avLst/>
          </a:prstGeom>
          <a:ln w="28575">
            <a:solidFill>
              <a:srgbClr val="14746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79" name="Shape 16"/>
          <p:cNvSpPr/>
          <p:nvPr/>
        </p:nvSpPr>
        <p:spPr>
          <a:xfrm>
            <a:off x="3858840" y="1874520"/>
            <a:ext cx="1416960" cy="1416960"/>
          </a:xfrm>
          <a:prstGeom prst="roundRect">
            <a:avLst>
              <a:gd name="adj" fmla="val 5161"/>
            </a:avLst>
          </a:prstGeom>
          <a:solidFill>
            <a:srgbClr val="eef5f4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0" name="Shape 17"/>
          <p:cNvSpPr/>
          <p:nvPr/>
        </p:nvSpPr>
        <p:spPr>
          <a:xfrm>
            <a:off x="4366440" y="2020680"/>
            <a:ext cx="402120" cy="402120"/>
          </a:xfrm>
          <a:prstGeom prst="ellipse">
            <a:avLst/>
          </a:prstGeom>
          <a:solidFill>
            <a:srgbClr val="1474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Text 18"/>
          <p:cNvSpPr/>
          <p:nvPr/>
        </p:nvSpPr>
        <p:spPr>
          <a:xfrm>
            <a:off x="4366440" y="202068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2" name="Text 19"/>
          <p:cNvSpPr/>
          <p:nvPr/>
        </p:nvSpPr>
        <p:spPr>
          <a:xfrm>
            <a:off x="3931920" y="2477880"/>
            <a:ext cx="1270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3d3e"/>
                </a:solidFill>
                <a:latin typeface="Calibri"/>
                <a:ea typeface="Calibri"/>
              </a:rPr>
              <a:t>Find root gap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3" name="Text 20"/>
          <p:cNvSpPr/>
          <p:nvPr/>
        </p:nvSpPr>
        <p:spPr>
          <a:xfrm>
            <a:off x="3931920" y="2853000"/>
            <a:ext cx="1270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5e7472"/>
                </a:solidFill>
                <a:latin typeface="Calibri"/>
                <a:ea typeface="Calibri"/>
              </a:rPr>
              <a:t>Earliest missing building block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284" name="Shape 21"/>
          <p:cNvSpPr/>
          <p:nvPr/>
        </p:nvSpPr>
        <p:spPr>
          <a:xfrm>
            <a:off x="5303520" y="2583000"/>
            <a:ext cx="228600" cy="360"/>
          </a:xfrm>
          <a:prstGeom prst="line">
            <a:avLst/>
          </a:prstGeom>
          <a:ln w="28575">
            <a:solidFill>
              <a:srgbClr val="14746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85" name="Shape 22"/>
          <p:cNvSpPr/>
          <p:nvPr/>
        </p:nvSpPr>
        <p:spPr>
          <a:xfrm>
            <a:off x="5559480" y="1874520"/>
            <a:ext cx="1416960" cy="1416960"/>
          </a:xfrm>
          <a:prstGeom prst="roundRect">
            <a:avLst>
              <a:gd name="adj" fmla="val 5161"/>
            </a:avLst>
          </a:prstGeom>
          <a:solidFill>
            <a:srgbClr val="eef5f4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6" name="Shape 23"/>
          <p:cNvSpPr/>
          <p:nvPr/>
        </p:nvSpPr>
        <p:spPr>
          <a:xfrm>
            <a:off x="6067080" y="2020680"/>
            <a:ext cx="402120" cy="402120"/>
          </a:xfrm>
          <a:prstGeom prst="ellipse">
            <a:avLst/>
          </a:prstGeom>
          <a:solidFill>
            <a:srgbClr val="1474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Text 24"/>
          <p:cNvSpPr/>
          <p:nvPr/>
        </p:nvSpPr>
        <p:spPr>
          <a:xfrm>
            <a:off x="6067080" y="202068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8" name="Text 25"/>
          <p:cNvSpPr/>
          <p:nvPr/>
        </p:nvSpPr>
        <p:spPr>
          <a:xfrm>
            <a:off x="5632560" y="2477880"/>
            <a:ext cx="1270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3d3e"/>
                </a:solidFill>
                <a:latin typeface="Calibri"/>
                <a:ea typeface="Calibri"/>
              </a:rPr>
              <a:t>Roadmap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9" name="Text 26"/>
          <p:cNvSpPr/>
          <p:nvPr/>
        </p:nvSpPr>
        <p:spPr>
          <a:xfrm>
            <a:off x="5632560" y="2853000"/>
            <a:ext cx="1270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5e7472"/>
                </a:solidFill>
                <a:latin typeface="Calibri"/>
                <a:ea typeface="Calibri"/>
              </a:rPr>
              <a:t>3–5 targeted micro-lessons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290" name="Shape 27"/>
          <p:cNvSpPr/>
          <p:nvPr/>
        </p:nvSpPr>
        <p:spPr>
          <a:xfrm>
            <a:off x="7004160" y="2583000"/>
            <a:ext cx="228600" cy="360"/>
          </a:xfrm>
          <a:prstGeom prst="line">
            <a:avLst/>
          </a:prstGeom>
          <a:ln w="28575">
            <a:solidFill>
              <a:srgbClr val="14746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Shape 28"/>
          <p:cNvSpPr/>
          <p:nvPr/>
        </p:nvSpPr>
        <p:spPr>
          <a:xfrm>
            <a:off x="7260480" y="1874520"/>
            <a:ext cx="1416960" cy="1416960"/>
          </a:xfrm>
          <a:prstGeom prst="roundRect">
            <a:avLst>
              <a:gd name="adj" fmla="val 5161"/>
            </a:avLst>
          </a:prstGeom>
          <a:solidFill>
            <a:srgbClr val="eef5f4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2" name="Shape 29"/>
          <p:cNvSpPr/>
          <p:nvPr/>
        </p:nvSpPr>
        <p:spPr>
          <a:xfrm>
            <a:off x="7767720" y="2020680"/>
            <a:ext cx="402120" cy="402120"/>
          </a:xfrm>
          <a:prstGeom prst="ellipse">
            <a:avLst/>
          </a:prstGeom>
          <a:solidFill>
            <a:srgbClr val="1474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Text 30"/>
          <p:cNvSpPr/>
          <p:nvPr/>
        </p:nvSpPr>
        <p:spPr>
          <a:xfrm>
            <a:off x="7767720" y="202068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94" name="Text 31"/>
          <p:cNvSpPr/>
          <p:nvPr/>
        </p:nvSpPr>
        <p:spPr>
          <a:xfrm>
            <a:off x="7333560" y="2477880"/>
            <a:ext cx="1270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3d3e"/>
                </a:solidFill>
                <a:latin typeface="Calibri"/>
                <a:ea typeface="Calibri"/>
              </a:rPr>
              <a:t>Play &amp; re-test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5" name="Text 32"/>
          <p:cNvSpPr/>
          <p:nvPr/>
        </p:nvSpPr>
        <p:spPr>
          <a:xfrm>
            <a:off x="7333560" y="2853000"/>
            <a:ext cx="1270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5e7472"/>
                </a:solidFill>
                <a:latin typeface="Calibri"/>
                <a:ea typeface="Calibri"/>
              </a:rPr>
              <a:t>XP, streaks → unlock next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296" name="Shape 33"/>
          <p:cNvSpPr/>
          <p:nvPr/>
        </p:nvSpPr>
        <p:spPr>
          <a:xfrm>
            <a:off x="457200" y="3611880"/>
            <a:ext cx="8229240" cy="1005480"/>
          </a:xfrm>
          <a:prstGeom prst="roundRect">
            <a:avLst>
              <a:gd name="adj" fmla="val 7273"/>
            </a:avLst>
          </a:prstGeom>
          <a:solidFill>
            <a:srgbClr val="eef5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97" name="Image 1" descr="preencoded.png"/>
          <p:cNvPicPr/>
          <p:nvPr/>
        </p:nvPicPr>
        <p:blipFill>
          <a:blip r:embed="rId2"/>
          <a:stretch/>
        </p:blipFill>
        <p:spPr>
          <a:xfrm>
            <a:off x="713160" y="38221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298" name="Text 34"/>
          <p:cNvSpPr/>
          <p:nvPr/>
        </p:nvSpPr>
        <p:spPr>
          <a:xfrm>
            <a:off x="1188720" y="3639240"/>
            <a:ext cx="731484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0f3d3e"/>
                </a:solidFill>
                <a:latin typeface="Calibri"/>
                <a:ea typeface="Calibri"/>
              </a:rPr>
              <a:t>Why it works:  </a:t>
            </a:r>
            <a:r>
              <a:rPr b="0" lang="en-US" sz="1150" spc="-1" strike="noStrike">
                <a:solidFill>
                  <a:srgbClr val="1f2d2e"/>
                </a:solidFill>
                <a:latin typeface="Calibri"/>
                <a:ea typeface="Calibri"/>
              </a:rPr>
              <a:t>instead of generic re-teaching, we pinpoint the one early concept causing the snowball and make fixing it feel like a game. The same engine builds a catch-up 'bridge' roadmap for returnees — students who dropped out and want back in at the right level.</a:t>
            </a:r>
            <a:endParaRPr b="0" lang="en-IN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Shape 0"/>
          <p:cNvSpPr/>
          <p:nvPr/>
        </p:nvSpPr>
        <p:spPr>
          <a:xfrm>
            <a:off x="457200" y="384120"/>
            <a:ext cx="566640" cy="566640"/>
          </a:xfrm>
          <a:prstGeom prst="ellipse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00" name="Image 0" descr="preencoded.png"/>
          <p:cNvPicPr/>
          <p:nvPr/>
        </p:nvPicPr>
        <p:blipFill>
          <a:blip r:embed="rId1"/>
          <a:stretch/>
        </p:blipFill>
        <p:spPr>
          <a:xfrm>
            <a:off x="585360" y="5119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301" name="Text 1"/>
          <p:cNvSpPr/>
          <p:nvPr/>
        </p:nvSpPr>
        <p:spPr>
          <a:xfrm>
            <a:off x="1170360" y="365760"/>
            <a:ext cx="7497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0f3d3e"/>
                </a:solidFill>
                <a:latin typeface="Cambria"/>
                <a:ea typeface="Cambria"/>
              </a:rPr>
              <a:t>Pipeline 3 — Help &amp; Grievance Chatbot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302" name="Text 2"/>
          <p:cNvSpPr/>
          <p:nvPr/>
        </p:nvSpPr>
        <p:spPr>
          <a:xfrm>
            <a:off x="1170360" y="87768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199" strike="noStrike">
                <a:solidFill>
                  <a:srgbClr val="2a9d8f"/>
                </a:solidFill>
                <a:latin typeface="Calibri"/>
                <a:ea typeface="Calibri"/>
              </a:rPr>
              <a:t>FEATURE 6 · RAG ASSISTANT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03" name="Text 3"/>
          <p:cNvSpPr/>
          <p:nvPr/>
        </p:nvSpPr>
        <p:spPr>
          <a:xfrm>
            <a:off x="457200" y="11887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f2d2e"/>
                </a:solidFill>
                <a:latin typeface="Calibri"/>
                <a:ea typeface="Calibri"/>
              </a:rPr>
              <a:t>A student with a problem and no one to ask is a student about to leave. This assistant always has an answer — or a human who does.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04" name="Shape 4"/>
          <p:cNvSpPr/>
          <p:nvPr/>
        </p:nvSpPr>
        <p:spPr>
          <a:xfrm>
            <a:off x="457200" y="1874520"/>
            <a:ext cx="1416960" cy="1416960"/>
          </a:xfrm>
          <a:prstGeom prst="roundRect">
            <a:avLst>
              <a:gd name="adj" fmla="val 5161"/>
            </a:avLst>
          </a:prstGeom>
          <a:solidFill>
            <a:srgbClr val="eef5f4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5" name="Shape 5"/>
          <p:cNvSpPr/>
          <p:nvPr/>
        </p:nvSpPr>
        <p:spPr>
          <a:xfrm>
            <a:off x="964800" y="2020680"/>
            <a:ext cx="402120" cy="402120"/>
          </a:xfrm>
          <a:prstGeom prst="ellipse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Text 6"/>
          <p:cNvSpPr/>
          <p:nvPr/>
        </p:nvSpPr>
        <p:spPr>
          <a:xfrm>
            <a:off x="964800" y="202068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07" name="Text 7"/>
          <p:cNvSpPr/>
          <p:nvPr/>
        </p:nvSpPr>
        <p:spPr>
          <a:xfrm>
            <a:off x="530280" y="2477880"/>
            <a:ext cx="1270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3d3e"/>
                </a:solidFill>
                <a:latin typeface="Calibri"/>
                <a:ea typeface="Calibri"/>
              </a:rPr>
              <a:t>Ask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8" name="Text 8"/>
          <p:cNvSpPr/>
          <p:nvPr/>
        </p:nvSpPr>
        <p:spPr>
          <a:xfrm>
            <a:off x="530280" y="2853000"/>
            <a:ext cx="1270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5e7472"/>
                </a:solidFill>
                <a:latin typeface="Calibri"/>
                <a:ea typeface="Calibri"/>
              </a:rPr>
              <a:t>Text or voice, in any language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309" name="Shape 9"/>
          <p:cNvSpPr/>
          <p:nvPr/>
        </p:nvSpPr>
        <p:spPr>
          <a:xfrm>
            <a:off x="1901880" y="2583000"/>
            <a:ext cx="228600" cy="360"/>
          </a:xfrm>
          <a:prstGeom prst="line">
            <a:avLst/>
          </a:prstGeom>
          <a:ln w="28575">
            <a:solidFill>
              <a:srgbClr val="2a9d8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Shape 10"/>
          <p:cNvSpPr/>
          <p:nvPr/>
        </p:nvSpPr>
        <p:spPr>
          <a:xfrm>
            <a:off x="2157840" y="1874520"/>
            <a:ext cx="1416960" cy="1416960"/>
          </a:xfrm>
          <a:prstGeom prst="roundRect">
            <a:avLst>
              <a:gd name="adj" fmla="val 5161"/>
            </a:avLst>
          </a:prstGeom>
          <a:solidFill>
            <a:srgbClr val="eef5f4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1" name="Shape 11"/>
          <p:cNvSpPr/>
          <p:nvPr/>
        </p:nvSpPr>
        <p:spPr>
          <a:xfrm>
            <a:off x="2665440" y="2020680"/>
            <a:ext cx="402120" cy="402120"/>
          </a:xfrm>
          <a:prstGeom prst="ellipse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Text 12"/>
          <p:cNvSpPr/>
          <p:nvPr/>
        </p:nvSpPr>
        <p:spPr>
          <a:xfrm>
            <a:off x="2665440" y="202068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13" name="Text 13"/>
          <p:cNvSpPr/>
          <p:nvPr/>
        </p:nvSpPr>
        <p:spPr>
          <a:xfrm>
            <a:off x="2231280" y="2477880"/>
            <a:ext cx="1270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3d3e"/>
                </a:solidFill>
                <a:latin typeface="Calibri"/>
                <a:ea typeface="Calibri"/>
              </a:rPr>
              <a:t>Understand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4" name="Text 14"/>
          <p:cNvSpPr/>
          <p:nvPr/>
        </p:nvSpPr>
        <p:spPr>
          <a:xfrm>
            <a:off x="2231280" y="2853000"/>
            <a:ext cx="1270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5e7472"/>
                </a:solidFill>
                <a:latin typeface="Calibri"/>
                <a:ea typeface="Calibri"/>
              </a:rPr>
              <a:t>Detect intent + language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315" name="Shape 15"/>
          <p:cNvSpPr/>
          <p:nvPr/>
        </p:nvSpPr>
        <p:spPr>
          <a:xfrm>
            <a:off x="3602520" y="2583000"/>
            <a:ext cx="228600" cy="360"/>
          </a:xfrm>
          <a:prstGeom prst="line">
            <a:avLst/>
          </a:prstGeom>
          <a:ln w="28575">
            <a:solidFill>
              <a:srgbClr val="2a9d8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16" name="Shape 16"/>
          <p:cNvSpPr/>
          <p:nvPr/>
        </p:nvSpPr>
        <p:spPr>
          <a:xfrm>
            <a:off x="3858840" y="1874520"/>
            <a:ext cx="1416960" cy="1416960"/>
          </a:xfrm>
          <a:prstGeom prst="roundRect">
            <a:avLst>
              <a:gd name="adj" fmla="val 5161"/>
            </a:avLst>
          </a:prstGeom>
          <a:solidFill>
            <a:srgbClr val="eef5f4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7" name="Shape 17"/>
          <p:cNvSpPr/>
          <p:nvPr/>
        </p:nvSpPr>
        <p:spPr>
          <a:xfrm>
            <a:off x="4366440" y="2020680"/>
            <a:ext cx="402120" cy="402120"/>
          </a:xfrm>
          <a:prstGeom prst="ellipse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8" name="Text 18"/>
          <p:cNvSpPr/>
          <p:nvPr/>
        </p:nvSpPr>
        <p:spPr>
          <a:xfrm>
            <a:off x="4366440" y="202068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19" name="Text 19"/>
          <p:cNvSpPr/>
          <p:nvPr/>
        </p:nvSpPr>
        <p:spPr>
          <a:xfrm>
            <a:off x="3931920" y="2477880"/>
            <a:ext cx="1270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3d3e"/>
                </a:solidFill>
                <a:latin typeface="Calibri"/>
                <a:ea typeface="Calibri"/>
              </a:rPr>
              <a:t>Retrieve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0" name="Text 20"/>
          <p:cNvSpPr/>
          <p:nvPr/>
        </p:nvSpPr>
        <p:spPr>
          <a:xfrm>
            <a:off x="3931920" y="2853000"/>
            <a:ext cx="1270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5e7472"/>
                </a:solidFill>
                <a:latin typeface="Calibri"/>
                <a:ea typeface="Calibri"/>
              </a:rPr>
              <a:t>Search curated knowledge base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321" name="Shape 21"/>
          <p:cNvSpPr/>
          <p:nvPr/>
        </p:nvSpPr>
        <p:spPr>
          <a:xfrm>
            <a:off x="5303520" y="2583000"/>
            <a:ext cx="228600" cy="360"/>
          </a:xfrm>
          <a:prstGeom prst="line">
            <a:avLst/>
          </a:prstGeom>
          <a:ln w="28575">
            <a:solidFill>
              <a:srgbClr val="2a9d8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Shape 22"/>
          <p:cNvSpPr/>
          <p:nvPr/>
        </p:nvSpPr>
        <p:spPr>
          <a:xfrm>
            <a:off x="5559480" y="1874520"/>
            <a:ext cx="1416960" cy="1416960"/>
          </a:xfrm>
          <a:prstGeom prst="roundRect">
            <a:avLst>
              <a:gd name="adj" fmla="val 5161"/>
            </a:avLst>
          </a:prstGeom>
          <a:solidFill>
            <a:srgbClr val="eef5f4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3" name="Shape 23"/>
          <p:cNvSpPr/>
          <p:nvPr/>
        </p:nvSpPr>
        <p:spPr>
          <a:xfrm>
            <a:off x="6067080" y="2020680"/>
            <a:ext cx="402120" cy="402120"/>
          </a:xfrm>
          <a:prstGeom prst="ellipse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4" name="Text 24"/>
          <p:cNvSpPr/>
          <p:nvPr/>
        </p:nvSpPr>
        <p:spPr>
          <a:xfrm>
            <a:off x="6067080" y="202068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25" name="Text 25"/>
          <p:cNvSpPr/>
          <p:nvPr/>
        </p:nvSpPr>
        <p:spPr>
          <a:xfrm>
            <a:off x="5632560" y="2477880"/>
            <a:ext cx="1270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3d3e"/>
                </a:solidFill>
                <a:latin typeface="Calibri"/>
                <a:ea typeface="Calibri"/>
              </a:rPr>
              <a:t>Answer + links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6" name="Text 26"/>
          <p:cNvSpPr/>
          <p:nvPr/>
        </p:nvSpPr>
        <p:spPr>
          <a:xfrm>
            <a:off x="5632560" y="2853000"/>
            <a:ext cx="1270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5e7472"/>
                </a:solidFill>
                <a:latin typeface="Calibri"/>
                <a:ea typeface="Calibri"/>
              </a:rPr>
              <a:t>Grounded reply with real links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327" name="Shape 27"/>
          <p:cNvSpPr/>
          <p:nvPr/>
        </p:nvSpPr>
        <p:spPr>
          <a:xfrm>
            <a:off x="7004160" y="2583000"/>
            <a:ext cx="228600" cy="360"/>
          </a:xfrm>
          <a:prstGeom prst="line">
            <a:avLst/>
          </a:prstGeom>
          <a:ln w="28575">
            <a:solidFill>
              <a:srgbClr val="2a9d8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28" name="Shape 28"/>
          <p:cNvSpPr/>
          <p:nvPr/>
        </p:nvSpPr>
        <p:spPr>
          <a:xfrm>
            <a:off x="7260480" y="1874520"/>
            <a:ext cx="1416960" cy="1416960"/>
          </a:xfrm>
          <a:prstGeom prst="roundRect">
            <a:avLst>
              <a:gd name="adj" fmla="val 5161"/>
            </a:avLst>
          </a:prstGeom>
          <a:solidFill>
            <a:srgbClr val="eef5f4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9" name="Shape 29"/>
          <p:cNvSpPr/>
          <p:nvPr/>
        </p:nvSpPr>
        <p:spPr>
          <a:xfrm>
            <a:off x="7767720" y="2020680"/>
            <a:ext cx="402120" cy="402120"/>
          </a:xfrm>
          <a:prstGeom prst="ellipse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0" name="Text 30"/>
          <p:cNvSpPr/>
          <p:nvPr/>
        </p:nvSpPr>
        <p:spPr>
          <a:xfrm>
            <a:off x="7767720" y="202068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31" name="Text 31"/>
          <p:cNvSpPr/>
          <p:nvPr/>
        </p:nvSpPr>
        <p:spPr>
          <a:xfrm>
            <a:off x="7333560" y="2477880"/>
            <a:ext cx="1270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3d3e"/>
                </a:solidFill>
                <a:latin typeface="Calibri"/>
                <a:ea typeface="Calibri"/>
              </a:rPr>
              <a:t>Escalate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32" name="Text 32"/>
          <p:cNvSpPr/>
          <p:nvPr/>
        </p:nvSpPr>
        <p:spPr>
          <a:xfrm>
            <a:off x="7333560" y="2853000"/>
            <a:ext cx="1270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5e7472"/>
                </a:solidFill>
                <a:latin typeface="Calibri"/>
                <a:ea typeface="Calibri"/>
              </a:rPr>
              <a:t>Unsolved → NGO / community queue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333" name="Shape 33"/>
          <p:cNvSpPr/>
          <p:nvPr/>
        </p:nvSpPr>
        <p:spPr>
          <a:xfrm>
            <a:off x="457200" y="3611880"/>
            <a:ext cx="8229240" cy="1005480"/>
          </a:xfrm>
          <a:prstGeom prst="roundRect">
            <a:avLst>
              <a:gd name="adj" fmla="val 7273"/>
            </a:avLst>
          </a:prstGeom>
          <a:solidFill>
            <a:srgbClr val="fbf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34" name="Image 1" descr="preencoded.png"/>
          <p:cNvPicPr/>
          <p:nvPr/>
        </p:nvPicPr>
        <p:blipFill>
          <a:blip r:embed="rId2"/>
          <a:stretch/>
        </p:blipFill>
        <p:spPr>
          <a:xfrm>
            <a:off x="676800" y="380376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335" name="Shape 34"/>
          <p:cNvSpPr/>
          <p:nvPr/>
        </p:nvSpPr>
        <p:spPr>
          <a:xfrm>
            <a:off x="640080" y="3767400"/>
            <a:ext cx="438480" cy="438480"/>
          </a:xfrm>
          <a:prstGeom prst="ellipse">
            <a:avLst/>
          </a:prstGeom>
          <a:solidFill>
            <a:srgbClr val="1474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36" name="Image 2" descr="preencoded.png"/>
          <p:cNvPicPr/>
          <p:nvPr/>
        </p:nvPicPr>
        <p:blipFill>
          <a:blip r:embed="rId3"/>
          <a:stretch/>
        </p:blipFill>
        <p:spPr>
          <a:xfrm>
            <a:off x="749880" y="387720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337" name="Text 35"/>
          <p:cNvSpPr/>
          <p:nvPr/>
        </p:nvSpPr>
        <p:spPr>
          <a:xfrm>
            <a:off x="1234440" y="3639240"/>
            <a:ext cx="72691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0f3d3e"/>
                </a:solidFill>
                <a:latin typeface="Calibri"/>
                <a:ea typeface="Calibri"/>
              </a:rPr>
              <a:t>Knowledge base:  </a:t>
            </a:r>
            <a:r>
              <a:rPr b="0" lang="en-US" sz="1150" spc="-1" strike="noStrike">
                <a:solidFill>
                  <a:srgbClr val="1f2d2e"/>
                </a:solidFill>
                <a:latin typeface="Calibri"/>
                <a:ea typeface="Calibri"/>
              </a:rPr>
              <a:t>scholarships, government schemes, study resources, counseling and helpline contacts. RAG keeps answers accurate and link-backed — no made-up advice — and unresolved needs get posted for a real person to help.</a:t>
            </a:r>
            <a:endParaRPr b="0" lang="en-IN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Shape 0"/>
          <p:cNvSpPr/>
          <p:nvPr/>
        </p:nvSpPr>
        <p:spPr>
          <a:xfrm>
            <a:off x="457200" y="384120"/>
            <a:ext cx="566640" cy="566640"/>
          </a:xfrm>
          <a:prstGeom prst="ellipse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39" name="Image 0" descr="preencoded.png"/>
          <p:cNvPicPr/>
          <p:nvPr/>
        </p:nvPicPr>
        <p:blipFill>
          <a:blip r:embed="rId1"/>
          <a:stretch/>
        </p:blipFill>
        <p:spPr>
          <a:xfrm>
            <a:off x="585360" y="5119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340" name="Text 1"/>
          <p:cNvSpPr/>
          <p:nvPr/>
        </p:nvSpPr>
        <p:spPr>
          <a:xfrm>
            <a:off x="1170360" y="365760"/>
            <a:ext cx="7497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0f3d3e"/>
                </a:solidFill>
                <a:latin typeface="Cambria"/>
                <a:ea typeface="Cambria"/>
              </a:rPr>
              <a:t>Beyond the app: people and place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341" name="Text 2"/>
          <p:cNvSpPr/>
          <p:nvPr/>
        </p:nvSpPr>
        <p:spPr>
          <a:xfrm>
            <a:off x="1170360" y="87768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199" strike="noStrike">
                <a:solidFill>
                  <a:srgbClr val="2a9d8f"/>
                </a:solidFill>
                <a:latin typeface="Calibri"/>
                <a:ea typeface="Calibri"/>
              </a:rPr>
              <a:t>PILLARS 3 · 4 · 5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42" name="Text 3"/>
          <p:cNvSpPr/>
          <p:nvPr/>
        </p:nvSpPr>
        <p:spPr>
          <a:xfrm>
            <a:off x="457200" y="11887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f2d2e"/>
                </a:solidFill>
                <a:latin typeface="Calibri"/>
                <a:ea typeface="Calibri"/>
              </a:rPr>
              <a:t>Technology keeps a student engaged. People and a safe place keep them enrolled. These three pillars run on partnerships, not just code.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43" name="Shape 4"/>
          <p:cNvSpPr/>
          <p:nvPr/>
        </p:nvSpPr>
        <p:spPr>
          <a:xfrm>
            <a:off x="457200" y="1828800"/>
            <a:ext cx="2596680" cy="2651400"/>
          </a:xfrm>
          <a:prstGeom prst="roundRect">
            <a:avLst>
              <a:gd name="adj" fmla="val 3169"/>
            </a:avLst>
          </a:prstGeom>
          <a:solidFill>
            <a:srgbClr val="ffffff"/>
          </a:solidFill>
          <a:ln w="12700">
            <a:solidFill>
              <a:srgbClr val="dde8e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4" name="Shape 5"/>
          <p:cNvSpPr/>
          <p:nvPr/>
        </p:nvSpPr>
        <p:spPr>
          <a:xfrm>
            <a:off x="1435680" y="2057400"/>
            <a:ext cx="639720" cy="639720"/>
          </a:xfrm>
          <a:prstGeom prst="ellipse">
            <a:avLst/>
          </a:prstGeom>
          <a:solidFill>
            <a:srgbClr val="e9a2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45" name="Image 1" descr="preencoded.png"/>
          <p:cNvPicPr/>
          <p:nvPr/>
        </p:nvPicPr>
        <p:blipFill>
          <a:blip r:embed="rId2"/>
          <a:stretch/>
        </p:blipFill>
        <p:spPr>
          <a:xfrm>
            <a:off x="1591200" y="221292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346" name="Text 6"/>
          <p:cNvSpPr/>
          <p:nvPr/>
        </p:nvSpPr>
        <p:spPr>
          <a:xfrm>
            <a:off x="548640" y="2788920"/>
            <a:ext cx="2413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50" spc="-1" strike="noStrike">
                <a:solidFill>
                  <a:srgbClr val="0f3d3e"/>
                </a:solidFill>
                <a:latin typeface="Calibri"/>
                <a:ea typeface="Calibri"/>
              </a:rPr>
              <a:t>Reels feed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347" name="Text 7"/>
          <p:cNvSpPr/>
          <p:nvPr/>
        </p:nvSpPr>
        <p:spPr>
          <a:xfrm>
            <a:off x="676800" y="3200400"/>
            <a:ext cx="21574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30" spc="-1" strike="noStrike">
                <a:solidFill>
                  <a:srgbClr val="5e7472"/>
                </a:solidFill>
                <a:latin typeface="Calibri"/>
                <a:ea typeface="Calibri"/>
              </a:rPr>
              <a:t>Swipeable chapter recaps, 30-second quizzes and scholarship alerts. Shareable, so good content spreads through friend groups the way social media already does.</a:t>
            </a:r>
            <a:endParaRPr b="0" lang="en-IN" sz="1030" spc="-1" strike="noStrike">
              <a:latin typeface="Arial"/>
            </a:endParaRPr>
          </a:p>
        </p:txBody>
      </p:sp>
      <p:sp>
        <p:nvSpPr>
          <p:cNvPr id="348" name="Shape 8"/>
          <p:cNvSpPr/>
          <p:nvPr/>
        </p:nvSpPr>
        <p:spPr>
          <a:xfrm>
            <a:off x="3273480" y="1828800"/>
            <a:ext cx="2596680" cy="2651400"/>
          </a:xfrm>
          <a:prstGeom prst="roundRect">
            <a:avLst>
              <a:gd name="adj" fmla="val 3169"/>
            </a:avLst>
          </a:prstGeom>
          <a:solidFill>
            <a:srgbClr val="ffffff"/>
          </a:solidFill>
          <a:ln w="12700">
            <a:solidFill>
              <a:srgbClr val="dde8e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9" name="Shape 9"/>
          <p:cNvSpPr/>
          <p:nvPr/>
        </p:nvSpPr>
        <p:spPr>
          <a:xfrm>
            <a:off x="4251960" y="2057400"/>
            <a:ext cx="639720" cy="639720"/>
          </a:xfrm>
          <a:prstGeom prst="ellipse">
            <a:avLst/>
          </a:prstGeom>
          <a:solidFill>
            <a:srgbClr val="e76f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50" name="Image 2" descr="preencoded.png"/>
          <p:cNvPicPr/>
          <p:nvPr/>
        </p:nvPicPr>
        <p:blipFill>
          <a:blip r:embed="rId3"/>
          <a:stretch/>
        </p:blipFill>
        <p:spPr>
          <a:xfrm>
            <a:off x="4407480" y="221292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351" name="Text 10"/>
          <p:cNvSpPr/>
          <p:nvPr/>
        </p:nvSpPr>
        <p:spPr>
          <a:xfrm>
            <a:off x="3364920" y="2788920"/>
            <a:ext cx="2413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50" spc="-1" strike="noStrike">
                <a:solidFill>
                  <a:srgbClr val="0f3d3e"/>
                </a:solidFill>
                <a:latin typeface="Calibri"/>
                <a:ea typeface="Calibri"/>
              </a:rPr>
              <a:t>Family Bridge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352" name="Text 11"/>
          <p:cNvSpPr/>
          <p:nvPr/>
        </p:nvSpPr>
        <p:spPr>
          <a:xfrm>
            <a:off x="3493080" y="3200400"/>
            <a:ext cx="21574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30" spc="-1" strike="noStrike">
                <a:solidFill>
                  <a:srgbClr val="5e7472"/>
                </a:solidFill>
                <a:latin typeface="Calibri"/>
                <a:ea typeface="Calibri"/>
              </a:rPr>
              <a:t>NGO partners run short counseling sessions with families — explaining the long-term payoff of finishing, and how to back their learner instead of pulling them out.</a:t>
            </a:r>
            <a:endParaRPr b="0" lang="en-IN" sz="1030" spc="-1" strike="noStrike">
              <a:latin typeface="Arial"/>
            </a:endParaRPr>
          </a:p>
        </p:txBody>
      </p:sp>
      <p:sp>
        <p:nvSpPr>
          <p:cNvPr id="353" name="Shape 12"/>
          <p:cNvSpPr/>
          <p:nvPr/>
        </p:nvSpPr>
        <p:spPr>
          <a:xfrm>
            <a:off x="6089760" y="1828800"/>
            <a:ext cx="2596680" cy="2651400"/>
          </a:xfrm>
          <a:prstGeom prst="roundRect">
            <a:avLst>
              <a:gd name="adj" fmla="val 3169"/>
            </a:avLst>
          </a:prstGeom>
          <a:solidFill>
            <a:srgbClr val="ffffff"/>
          </a:solidFill>
          <a:ln w="12700">
            <a:solidFill>
              <a:srgbClr val="dde8e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4" name="Shape 13"/>
          <p:cNvSpPr/>
          <p:nvPr/>
        </p:nvSpPr>
        <p:spPr>
          <a:xfrm>
            <a:off x="7068240" y="2057400"/>
            <a:ext cx="639720" cy="639720"/>
          </a:xfrm>
          <a:prstGeom prst="ellipse">
            <a:avLst/>
          </a:prstGeom>
          <a:solidFill>
            <a:srgbClr val="1474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55" name="Image 3" descr="preencoded.png"/>
          <p:cNvPicPr/>
          <p:nvPr/>
        </p:nvPicPr>
        <p:blipFill>
          <a:blip r:embed="rId4"/>
          <a:stretch/>
        </p:blipFill>
        <p:spPr>
          <a:xfrm>
            <a:off x="7223760" y="221292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356" name="Text 14"/>
          <p:cNvSpPr/>
          <p:nvPr/>
        </p:nvSpPr>
        <p:spPr>
          <a:xfrm>
            <a:off x="6181200" y="2788920"/>
            <a:ext cx="2413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50" spc="-1" strike="noStrike">
                <a:solidFill>
                  <a:srgbClr val="0f3d3e"/>
                </a:solidFill>
                <a:latin typeface="Calibri"/>
                <a:ea typeface="Calibri"/>
              </a:rPr>
              <a:t>Safe Housing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357" name="Text 15"/>
          <p:cNvSpPr/>
          <p:nvPr/>
        </p:nvSpPr>
        <p:spPr>
          <a:xfrm>
            <a:off x="6309360" y="3200400"/>
            <a:ext cx="21574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30" spc="-1" strike="noStrike">
                <a:solidFill>
                  <a:srgbClr val="5e7472"/>
                </a:solidFill>
                <a:latin typeface="Calibri"/>
                <a:ea typeface="Calibri"/>
              </a:rPr>
              <a:t>Tie-ups for affordable hostel and housing access, so a tough or unsafe home doesn't decide a student's future. Learning should not depend on luck of birth.</a:t>
            </a:r>
            <a:endParaRPr b="0" lang="en-IN" sz="103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hape 0"/>
          <p:cNvSpPr/>
          <p:nvPr/>
        </p:nvSpPr>
        <p:spPr>
          <a:xfrm>
            <a:off x="457200" y="384120"/>
            <a:ext cx="566640" cy="566640"/>
          </a:xfrm>
          <a:prstGeom prst="ellipse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59" name="Image 0" descr="preencoded.png"/>
          <p:cNvPicPr/>
          <p:nvPr/>
        </p:nvPicPr>
        <p:blipFill>
          <a:blip r:embed="rId1"/>
          <a:stretch/>
        </p:blipFill>
        <p:spPr>
          <a:xfrm>
            <a:off x="585360" y="5119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360" name="Text 1"/>
          <p:cNvSpPr/>
          <p:nvPr/>
        </p:nvSpPr>
        <p:spPr>
          <a:xfrm>
            <a:off x="1170360" y="365760"/>
            <a:ext cx="7497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0f3d3e"/>
                </a:solidFill>
                <a:latin typeface="Cambria"/>
                <a:ea typeface="Cambria"/>
              </a:rPr>
              <a:t>How we'll build it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361" name="Text 2"/>
          <p:cNvSpPr/>
          <p:nvPr/>
        </p:nvSpPr>
        <p:spPr>
          <a:xfrm>
            <a:off x="1170360" y="87768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199" strike="noStrike">
                <a:solidFill>
                  <a:srgbClr val="2a9d8f"/>
                </a:solidFill>
                <a:latin typeface="Calibri"/>
                <a:ea typeface="Calibri"/>
              </a:rPr>
              <a:t>TECH STACK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62" name="Shape 3"/>
          <p:cNvSpPr/>
          <p:nvPr/>
        </p:nvSpPr>
        <p:spPr>
          <a:xfrm>
            <a:off x="457200" y="1371600"/>
            <a:ext cx="1919880" cy="3062880"/>
          </a:xfrm>
          <a:prstGeom prst="roundRect">
            <a:avLst>
              <a:gd name="adj" fmla="val 3810"/>
            </a:avLst>
          </a:prstGeom>
          <a:solidFill>
            <a:srgbClr val="eef5f4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3" name="Shape 4"/>
          <p:cNvSpPr/>
          <p:nvPr/>
        </p:nvSpPr>
        <p:spPr>
          <a:xfrm>
            <a:off x="1134000" y="1591200"/>
            <a:ext cx="566640" cy="566640"/>
          </a:xfrm>
          <a:prstGeom prst="ellipse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64" name="Image 1" descr="preencoded.png"/>
          <p:cNvPicPr/>
          <p:nvPr/>
        </p:nvPicPr>
        <p:blipFill>
          <a:blip r:embed="rId2"/>
          <a:stretch/>
        </p:blipFill>
        <p:spPr>
          <a:xfrm>
            <a:off x="1271160" y="172836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365" name="Text 5"/>
          <p:cNvSpPr/>
          <p:nvPr/>
        </p:nvSpPr>
        <p:spPr>
          <a:xfrm>
            <a:off x="457200" y="228600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0f3d3e"/>
                </a:solidFill>
                <a:latin typeface="Calibri"/>
                <a:ea typeface="Calibri"/>
              </a:rPr>
              <a:t>Front-end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366" name="Text 6"/>
          <p:cNvSpPr/>
          <p:nvPr/>
        </p:nvSpPr>
        <p:spPr>
          <a:xfrm>
            <a:off x="603360" y="2743200"/>
            <a:ext cx="162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f2d2e"/>
                </a:solidFill>
                <a:latin typeface="Calibri"/>
                <a:ea typeface="Calibri"/>
              </a:rPr>
              <a:t>Flutter / React Native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67" name="Shape 7"/>
          <p:cNvSpPr/>
          <p:nvPr/>
        </p:nvSpPr>
        <p:spPr>
          <a:xfrm>
            <a:off x="868680" y="3218400"/>
            <a:ext cx="1097280" cy="360"/>
          </a:xfrm>
          <a:prstGeom prst="line">
            <a:avLst/>
          </a:prstGeom>
          <a:ln w="12700">
            <a:solidFill>
              <a:srgbClr val="d5e4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8" name="Text 8"/>
          <p:cNvSpPr/>
          <p:nvPr/>
        </p:nvSpPr>
        <p:spPr>
          <a:xfrm>
            <a:off x="603360" y="3246120"/>
            <a:ext cx="162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f2d2e"/>
                </a:solidFill>
                <a:latin typeface="Calibri"/>
                <a:ea typeface="Calibri"/>
              </a:rPr>
              <a:t>Mobile-first, offline cache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69" name="Shape 9"/>
          <p:cNvSpPr/>
          <p:nvPr/>
        </p:nvSpPr>
        <p:spPr>
          <a:xfrm>
            <a:off x="868680" y="3721320"/>
            <a:ext cx="1097280" cy="360"/>
          </a:xfrm>
          <a:prstGeom prst="line">
            <a:avLst/>
          </a:prstGeom>
          <a:ln w="12700">
            <a:solidFill>
              <a:srgbClr val="d5e4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0" name="Text 10"/>
          <p:cNvSpPr/>
          <p:nvPr/>
        </p:nvSpPr>
        <p:spPr>
          <a:xfrm>
            <a:off x="603360" y="3749040"/>
            <a:ext cx="162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f2d2e"/>
                </a:solidFill>
                <a:latin typeface="Calibri"/>
                <a:ea typeface="Calibri"/>
              </a:rPr>
              <a:t>Low-data 'lite' mode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71" name="Shape 11"/>
          <p:cNvSpPr/>
          <p:nvPr/>
        </p:nvSpPr>
        <p:spPr>
          <a:xfrm>
            <a:off x="2532960" y="1371600"/>
            <a:ext cx="1919880" cy="3062880"/>
          </a:xfrm>
          <a:prstGeom prst="roundRect">
            <a:avLst>
              <a:gd name="adj" fmla="val 3810"/>
            </a:avLst>
          </a:prstGeom>
          <a:solidFill>
            <a:srgbClr val="eef5f4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72" name="Shape 12"/>
          <p:cNvSpPr/>
          <p:nvPr/>
        </p:nvSpPr>
        <p:spPr>
          <a:xfrm>
            <a:off x="3209400" y="1591200"/>
            <a:ext cx="566640" cy="566640"/>
          </a:xfrm>
          <a:prstGeom prst="ellipse">
            <a:avLst/>
          </a:prstGeom>
          <a:solidFill>
            <a:srgbClr val="1474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73" name="Image 2" descr="preencoded.png"/>
          <p:cNvPicPr/>
          <p:nvPr/>
        </p:nvPicPr>
        <p:blipFill>
          <a:blip r:embed="rId3"/>
          <a:stretch/>
        </p:blipFill>
        <p:spPr>
          <a:xfrm>
            <a:off x="3346560" y="172836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374" name="Text 13"/>
          <p:cNvSpPr/>
          <p:nvPr/>
        </p:nvSpPr>
        <p:spPr>
          <a:xfrm>
            <a:off x="2532960" y="228600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0f3d3e"/>
                </a:solidFill>
                <a:latin typeface="Calibri"/>
                <a:ea typeface="Calibri"/>
              </a:rPr>
              <a:t>AI &amp; language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375" name="Text 14"/>
          <p:cNvSpPr/>
          <p:nvPr/>
        </p:nvSpPr>
        <p:spPr>
          <a:xfrm>
            <a:off x="2679120" y="2743200"/>
            <a:ext cx="162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f2d2e"/>
                </a:solidFill>
                <a:latin typeface="Calibri"/>
                <a:ea typeface="Calibri"/>
              </a:rPr>
              <a:t>AI4Bharat ASR (IndicWhisper)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76" name="Shape 15"/>
          <p:cNvSpPr/>
          <p:nvPr/>
        </p:nvSpPr>
        <p:spPr>
          <a:xfrm>
            <a:off x="2944080" y="3218400"/>
            <a:ext cx="1097280" cy="360"/>
          </a:xfrm>
          <a:prstGeom prst="line">
            <a:avLst/>
          </a:prstGeom>
          <a:ln w="12700">
            <a:solidFill>
              <a:srgbClr val="d5e4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7" name="Text 16"/>
          <p:cNvSpPr/>
          <p:nvPr/>
        </p:nvSpPr>
        <p:spPr>
          <a:xfrm>
            <a:off x="2679120" y="3246120"/>
            <a:ext cx="162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f2d2e"/>
                </a:solidFill>
                <a:latin typeface="Calibri"/>
                <a:ea typeface="Calibri"/>
              </a:rPr>
              <a:t>IndicTrans2 translation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78" name="Shape 17"/>
          <p:cNvSpPr/>
          <p:nvPr/>
        </p:nvSpPr>
        <p:spPr>
          <a:xfrm>
            <a:off x="2944080" y="3721320"/>
            <a:ext cx="1097280" cy="360"/>
          </a:xfrm>
          <a:prstGeom prst="line">
            <a:avLst/>
          </a:prstGeom>
          <a:ln w="12700">
            <a:solidFill>
              <a:srgbClr val="d5e4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9" name="Text 18"/>
          <p:cNvSpPr/>
          <p:nvPr/>
        </p:nvSpPr>
        <p:spPr>
          <a:xfrm>
            <a:off x="2679120" y="3749040"/>
            <a:ext cx="162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f2d2e"/>
                </a:solidFill>
                <a:latin typeface="Calibri"/>
                <a:ea typeface="Calibri"/>
              </a:rPr>
              <a:t>LLM + embeddings for RAG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80" name="Shape 19"/>
          <p:cNvSpPr/>
          <p:nvPr/>
        </p:nvSpPr>
        <p:spPr>
          <a:xfrm>
            <a:off x="4608720" y="1371600"/>
            <a:ext cx="1919880" cy="3062880"/>
          </a:xfrm>
          <a:prstGeom prst="roundRect">
            <a:avLst>
              <a:gd name="adj" fmla="val 3810"/>
            </a:avLst>
          </a:prstGeom>
          <a:solidFill>
            <a:srgbClr val="eef5f4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81" name="Shape 20"/>
          <p:cNvSpPr/>
          <p:nvPr/>
        </p:nvSpPr>
        <p:spPr>
          <a:xfrm>
            <a:off x="5285160" y="1591200"/>
            <a:ext cx="566640" cy="566640"/>
          </a:xfrm>
          <a:prstGeom prst="ellipse">
            <a:avLst/>
          </a:prstGeom>
          <a:solidFill>
            <a:srgbClr val="e9a2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82" name="Image 3" descr="preencoded.png"/>
          <p:cNvPicPr/>
          <p:nvPr/>
        </p:nvPicPr>
        <p:blipFill>
          <a:blip r:embed="rId4"/>
          <a:stretch/>
        </p:blipFill>
        <p:spPr>
          <a:xfrm>
            <a:off x="5422320" y="172836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383" name="Text 21"/>
          <p:cNvSpPr/>
          <p:nvPr/>
        </p:nvSpPr>
        <p:spPr>
          <a:xfrm>
            <a:off x="4608720" y="228600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0f3d3e"/>
                </a:solidFill>
                <a:latin typeface="Calibri"/>
                <a:ea typeface="Calibri"/>
              </a:rPr>
              <a:t>Data &amp; logic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384" name="Text 22"/>
          <p:cNvSpPr/>
          <p:nvPr/>
        </p:nvSpPr>
        <p:spPr>
          <a:xfrm>
            <a:off x="4754880" y="2743200"/>
            <a:ext cx="162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f2d2e"/>
                </a:solidFill>
                <a:latin typeface="Calibri"/>
                <a:ea typeface="Calibri"/>
              </a:rPr>
              <a:t>FastAPI + PostgreSQL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85" name="Shape 23"/>
          <p:cNvSpPr/>
          <p:nvPr/>
        </p:nvSpPr>
        <p:spPr>
          <a:xfrm>
            <a:off x="5019840" y="3218400"/>
            <a:ext cx="1097280" cy="360"/>
          </a:xfrm>
          <a:prstGeom prst="line">
            <a:avLst/>
          </a:prstGeom>
          <a:ln w="12700">
            <a:solidFill>
              <a:srgbClr val="d5e4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6" name="Text 24"/>
          <p:cNvSpPr/>
          <p:nvPr/>
        </p:nvSpPr>
        <p:spPr>
          <a:xfrm>
            <a:off x="4754880" y="3246120"/>
            <a:ext cx="162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f2d2e"/>
                </a:solidFill>
                <a:latin typeface="Calibri"/>
                <a:ea typeface="Calibri"/>
              </a:rPr>
              <a:t>Vector DB (Chroma / FAISS)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87" name="Shape 25"/>
          <p:cNvSpPr/>
          <p:nvPr/>
        </p:nvSpPr>
        <p:spPr>
          <a:xfrm>
            <a:off x="5019840" y="3721320"/>
            <a:ext cx="1097280" cy="360"/>
          </a:xfrm>
          <a:prstGeom prst="line">
            <a:avLst/>
          </a:prstGeom>
          <a:ln w="12700">
            <a:solidFill>
              <a:srgbClr val="d5e4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8" name="Text 26"/>
          <p:cNvSpPr/>
          <p:nvPr/>
        </p:nvSpPr>
        <p:spPr>
          <a:xfrm>
            <a:off x="4754880" y="3749040"/>
            <a:ext cx="162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f2d2e"/>
                </a:solidFill>
                <a:latin typeface="Calibri"/>
                <a:ea typeface="Calibri"/>
              </a:rPr>
              <a:t>Neo4j concept graph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89" name="Shape 27"/>
          <p:cNvSpPr/>
          <p:nvPr/>
        </p:nvSpPr>
        <p:spPr>
          <a:xfrm>
            <a:off x="6684120" y="1371600"/>
            <a:ext cx="1919880" cy="3062880"/>
          </a:xfrm>
          <a:prstGeom prst="roundRect">
            <a:avLst>
              <a:gd name="adj" fmla="val 3810"/>
            </a:avLst>
          </a:prstGeom>
          <a:solidFill>
            <a:srgbClr val="eef5f4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90" name="Shape 28"/>
          <p:cNvSpPr/>
          <p:nvPr/>
        </p:nvSpPr>
        <p:spPr>
          <a:xfrm>
            <a:off x="7360920" y="1591200"/>
            <a:ext cx="566640" cy="566640"/>
          </a:xfrm>
          <a:prstGeom prst="ellipse">
            <a:avLst/>
          </a:prstGeom>
          <a:solidFill>
            <a:srgbClr val="e76f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91" name="Image 4" descr="preencoded.png"/>
          <p:cNvPicPr/>
          <p:nvPr/>
        </p:nvPicPr>
        <p:blipFill>
          <a:blip r:embed="rId5"/>
          <a:stretch/>
        </p:blipFill>
        <p:spPr>
          <a:xfrm>
            <a:off x="7498080" y="172836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392" name="Text 29"/>
          <p:cNvSpPr/>
          <p:nvPr/>
        </p:nvSpPr>
        <p:spPr>
          <a:xfrm>
            <a:off x="6684120" y="228600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0f3d3e"/>
                </a:solidFill>
                <a:latin typeface="Calibri"/>
                <a:ea typeface="Calibri"/>
              </a:rPr>
              <a:t>Trust &amp; money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393" name="Text 30"/>
          <p:cNvSpPr/>
          <p:nvPr/>
        </p:nvSpPr>
        <p:spPr>
          <a:xfrm>
            <a:off x="6830640" y="2743200"/>
            <a:ext cx="162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f2d2e"/>
                </a:solidFill>
                <a:latin typeface="Calibri"/>
                <a:ea typeface="Calibri"/>
              </a:rPr>
              <a:t>Phone-OTP auth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94" name="Shape 31"/>
          <p:cNvSpPr/>
          <p:nvPr/>
        </p:nvSpPr>
        <p:spPr>
          <a:xfrm>
            <a:off x="7095600" y="3218400"/>
            <a:ext cx="1097280" cy="360"/>
          </a:xfrm>
          <a:prstGeom prst="line">
            <a:avLst/>
          </a:prstGeom>
          <a:ln w="12700">
            <a:solidFill>
              <a:srgbClr val="d5e4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5" name="Text 32"/>
          <p:cNvSpPr/>
          <p:nvPr/>
        </p:nvSpPr>
        <p:spPr>
          <a:xfrm>
            <a:off x="6830640" y="3246120"/>
            <a:ext cx="162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f2d2e"/>
                </a:solidFill>
                <a:latin typeface="Calibri"/>
                <a:ea typeface="Calibri"/>
              </a:rPr>
              <a:t>Light KYC for payouts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396" name="Shape 33"/>
          <p:cNvSpPr/>
          <p:nvPr/>
        </p:nvSpPr>
        <p:spPr>
          <a:xfrm>
            <a:off x="7095600" y="3721320"/>
            <a:ext cx="1097280" cy="360"/>
          </a:xfrm>
          <a:prstGeom prst="line">
            <a:avLst/>
          </a:prstGeom>
          <a:ln w="12700">
            <a:solidFill>
              <a:srgbClr val="d5e4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7" name="Text 34"/>
          <p:cNvSpPr/>
          <p:nvPr/>
        </p:nvSpPr>
        <p:spPr>
          <a:xfrm>
            <a:off x="6830640" y="3749040"/>
            <a:ext cx="162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1f2d2e"/>
                </a:solidFill>
                <a:latin typeface="Calibri"/>
                <a:ea typeface="Calibri"/>
              </a:rPr>
              <a:t>UPI micro-payments</a:t>
            </a:r>
            <a:endParaRPr b="0" lang="en-IN" sz="9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Shape 0"/>
          <p:cNvSpPr/>
          <p:nvPr/>
        </p:nvSpPr>
        <p:spPr>
          <a:xfrm>
            <a:off x="457200" y="384120"/>
            <a:ext cx="566640" cy="566640"/>
          </a:xfrm>
          <a:prstGeom prst="ellipse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99" name="Image 0" descr="preencoded.png"/>
          <p:cNvPicPr/>
          <p:nvPr/>
        </p:nvPicPr>
        <p:blipFill>
          <a:blip r:embed="rId1"/>
          <a:stretch/>
        </p:blipFill>
        <p:spPr>
          <a:xfrm>
            <a:off x="585360" y="5119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400" name="Text 1"/>
          <p:cNvSpPr/>
          <p:nvPr/>
        </p:nvSpPr>
        <p:spPr>
          <a:xfrm>
            <a:off x="1170360" y="365760"/>
            <a:ext cx="7497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0f3d3e"/>
                </a:solidFill>
                <a:latin typeface="Cambria"/>
                <a:ea typeface="Cambria"/>
              </a:rPr>
              <a:t>What we'll build this weekend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401" name="Text 2"/>
          <p:cNvSpPr/>
          <p:nvPr/>
        </p:nvSpPr>
        <p:spPr>
          <a:xfrm>
            <a:off x="1170360" y="87768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199" strike="noStrike">
                <a:solidFill>
                  <a:srgbClr val="2a9d8f"/>
                </a:solidFill>
                <a:latin typeface="Calibri"/>
                <a:ea typeface="Calibri"/>
              </a:rPr>
              <a:t>SCOPE — STAYING REALISTIC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02" name="Text 3"/>
          <p:cNvSpPr/>
          <p:nvPr/>
        </p:nvSpPr>
        <p:spPr>
          <a:xfrm>
            <a:off x="457200" y="11887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f2d2e"/>
                </a:solidFill>
                <a:latin typeface="Calibri"/>
                <a:ea typeface="Calibri"/>
              </a:rPr>
              <a:t>We can't ship all six pillars in a hackathon — so we'll build a working core that proves the idea, and pitch the rest as the roadmap.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03" name="Shape 4"/>
          <p:cNvSpPr/>
          <p:nvPr/>
        </p:nvSpPr>
        <p:spPr>
          <a:xfrm>
            <a:off x="457200" y="1783080"/>
            <a:ext cx="4023000" cy="2788560"/>
          </a:xfrm>
          <a:prstGeom prst="roundRect">
            <a:avLst>
              <a:gd name="adj" fmla="val 2623"/>
            </a:avLst>
          </a:prstGeom>
          <a:solidFill>
            <a:srgbClr val="eef5f4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04" name="Text 5"/>
          <p:cNvSpPr/>
          <p:nvPr/>
        </p:nvSpPr>
        <p:spPr>
          <a:xfrm>
            <a:off x="685800" y="193860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97" strike="noStrike">
                <a:solidFill>
                  <a:srgbClr val="2a9d8f"/>
                </a:solidFill>
                <a:latin typeface="Calibri"/>
                <a:ea typeface="Calibri"/>
              </a:rPr>
              <a:t>✓  </a:t>
            </a:r>
            <a:r>
              <a:rPr b="1" lang="en-US" sz="1300" spc="97" strike="noStrike">
                <a:solidFill>
                  <a:srgbClr val="0f3d3e"/>
                </a:solidFill>
                <a:latin typeface="Calibri"/>
                <a:ea typeface="Calibri"/>
              </a:rPr>
              <a:t>BUILD &amp; DEMO NOW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05" name="Text 6"/>
          <p:cNvSpPr/>
          <p:nvPr/>
        </p:nvSpPr>
        <p:spPr>
          <a:xfrm>
            <a:off x="685800" y="2331720"/>
            <a:ext cx="3611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7840" indent="-177840">
              <a:lnSpc>
                <a:spcPct val="100000"/>
              </a:lnSpc>
              <a:buClr>
                <a:srgbClr val="1f2d2e"/>
              </a:buClr>
              <a:buFont typeface="Symbol" charset="2"/>
              <a:buChar char=""/>
            </a:pPr>
            <a:r>
              <a:rPr b="1" lang="en-US" sz="1100" spc="-1" strike="noStrike">
                <a:solidFill>
                  <a:srgbClr val="1f2d2e"/>
                </a:solidFill>
                <a:latin typeface="Calibri"/>
                <a:ea typeface="Calibri"/>
              </a:rPr>
              <a:t>Gap-Finder: diagnostic → root gap → roadmap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06" name="Text 7"/>
          <p:cNvSpPr/>
          <p:nvPr/>
        </p:nvSpPr>
        <p:spPr>
          <a:xfrm>
            <a:off x="685800" y="2862000"/>
            <a:ext cx="3611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7840" indent="-177840">
              <a:lnSpc>
                <a:spcPct val="100000"/>
              </a:lnSpc>
              <a:buClr>
                <a:srgbClr val="1f2d2e"/>
              </a:buClr>
              <a:buFont typeface="Symbol" charset="2"/>
              <a:buChar char=""/>
            </a:pPr>
            <a:r>
              <a:rPr b="1" lang="en-US" sz="1100" spc="-1" strike="noStrike">
                <a:solidFill>
                  <a:srgbClr val="1f2d2e"/>
                </a:solidFill>
                <a:latin typeface="Calibri"/>
                <a:ea typeface="Calibri"/>
              </a:rPr>
              <a:t>RAG chatbot seeded with real scholarships &amp; schemes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07" name="Text 8"/>
          <p:cNvSpPr/>
          <p:nvPr/>
        </p:nvSpPr>
        <p:spPr>
          <a:xfrm>
            <a:off x="685800" y="3392280"/>
            <a:ext cx="3611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7840" indent="-177840">
              <a:lnSpc>
                <a:spcPct val="100000"/>
              </a:lnSpc>
              <a:buClr>
                <a:srgbClr val="1f2d2e"/>
              </a:buClr>
              <a:buFont typeface="Symbol" charset="2"/>
              <a:buChar char=""/>
            </a:pPr>
            <a:r>
              <a:rPr b="1" lang="en-US" sz="1100" spc="-1" strike="noStrike">
                <a:solidFill>
                  <a:srgbClr val="1f2d2e"/>
                </a:solidFill>
                <a:latin typeface="Calibri"/>
                <a:ea typeface="Calibri"/>
              </a:rPr>
              <a:t>Transcription demo: 1 lecture → ASR → translate → review UI → mock payout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08" name="Text 9"/>
          <p:cNvSpPr/>
          <p:nvPr/>
        </p:nvSpPr>
        <p:spPr>
          <a:xfrm>
            <a:off x="685800" y="3922920"/>
            <a:ext cx="3611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7840" indent="-177840">
              <a:lnSpc>
                <a:spcPct val="100000"/>
              </a:lnSpc>
              <a:buClr>
                <a:srgbClr val="1f2d2e"/>
              </a:buClr>
              <a:buFont typeface="Symbol" charset="2"/>
              <a:buChar char=""/>
            </a:pPr>
            <a:r>
              <a:rPr b="1" lang="en-US" sz="1100" spc="-1" strike="noStrike">
                <a:solidFill>
                  <a:srgbClr val="1f2d2e"/>
                </a:solidFill>
                <a:latin typeface="Calibri"/>
                <a:ea typeface="Calibri"/>
              </a:rPr>
              <a:t>Reels feed prototype with sample quiz cards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09" name="Shape 10"/>
          <p:cNvSpPr/>
          <p:nvPr/>
        </p:nvSpPr>
        <p:spPr>
          <a:xfrm>
            <a:off x="4663440" y="1783080"/>
            <a:ext cx="4023000" cy="2788560"/>
          </a:xfrm>
          <a:prstGeom prst="roundRect">
            <a:avLst>
              <a:gd name="adj" fmla="val 2623"/>
            </a:avLst>
          </a:prstGeom>
          <a:solidFill>
            <a:srgbClr val="fbf1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10" name="Text 11"/>
          <p:cNvSpPr/>
          <p:nvPr/>
        </p:nvSpPr>
        <p:spPr>
          <a:xfrm>
            <a:off x="4892040" y="193860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97" strike="noStrike">
                <a:solidFill>
                  <a:srgbClr val="e9a23b"/>
                </a:solidFill>
                <a:latin typeface="Calibri"/>
                <a:ea typeface="Calibri"/>
              </a:rPr>
              <a:t>→  </a:t>
            </a:r>
            <a:r>
              <a:rPr b="1" lang="en-US" sz="1300" spc="97" strike="noStrike">
                <a:solidFill>
                  <a:srgbClr val="0f3d3e"/>
                </a:solidFill>
                <a:latin typeface="Calibri"/>
                <a:ea typeface="Calibri"/>
              </a:rPr>
              <a:t>PITCH AS ROADMAP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11" name="Text 12"/>
          <p:cNvSpPr/>
          <p:nvPr/>
        </p:nvSpPr>
        <p:spPr>
          <a:xfrm>
            <a:off x="4892040" y="2331720"/>
            <a:ext cx="3611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7840" indent="-177840">
              <a:lnSpc>
                <a:spcPct val="100000"/>
              </a:lnSpc>
              <a:buClr>
                <a:srgbClr val="1f2d2e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f2d2e"/>
                </a:solidFill>
                <a:latin typeface="Calibri"/>
                <a:ea typeface="Calibri"/>
              </a:rPr>
              <a:t>Real UPI payouts &amp; translator verification at scale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12" name="Text 13"/>
          <p:cNvSpPr/>
          <p:nvPr/>
        </p:nvSpPr>
        <p:spPr>
          <a:xfrm>
            <a:off x="4892040" y="2862000"/>
            <a:ext cx="3611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7840" indent="-177840">
              <a:lnSpc>
                <a:spcPct val="100000"/>
              </a:lnSpc>
              <a:buClr>
                <a:srgbClr val="1f2d2e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f2d2e"/>
                </a:solidFill>
                <a:latin typeface="Calibri"/>
                <a:ea typeface="Calibri"/>
              </a:rPr>
              <a:t>NGO partnerships for family counseling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13" name="Text 14"/>
          <p:cNvSpPr/>
          <p:nvPr/>
        </p:nvSpPr>
        <p:spPr>
          <a:xfrm>
            <a:off x="4892040" y="3392280"/>
            <a:ext cx="3611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7840" indent="-177840">
              <a:lnSpc>
                <a:spcPct val="100000"/>
              </a:lnSpc>
              <a:buClr>
                <a:srgbClr val="1f2d2e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f2d2e"/>
                </a:solidFill>
                <a:latin typeface="Calibri"/>
                <a:ea typeface="Calibri"/>
              </a:rPr>
              <a:t>Affordable housing / hostel tie-ups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14" name="Text 15"/>
          <p:cNvSpPr/>
          <p:nvPr/>
        </p:nvSpPr>
        <p:spPr>
          <a:xfrm>
            <a:off x="4892040" y="3922920"/>
            <a:ext cx="3611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7840" indent="-177840">
              <a:lnSpc>
                <a:spcPct val="100000"/>
              </a:lnSpc>
              <a:buClr>
                <a:srgbClr val="1f2d2e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f2d2e"/>
                </a:solidFill>
                <a:latin typeface="Calibri"/>
                <a:ea typeface="Calibri"/>
              </a:rPr>
              <a:t>Scholarship &amp; government-scheme integrations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Shape 0"/>
          <p:cNvSpPr/>
          <p:nvPr/>
        </p:nvSpPr>
        <p:spPr>
          <a:xfrm>
            <a:off x="-914400" y="3291840"/>
            <a:ext cx="2742840" cy="2742840"/>
          </a:xfrm>
          <a:prstGeom prst="ellipse">
            <a:avLst/>
          </a:prstGeom>
          <a:solidFill>
            <a:srgbClr val="14746f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6" name="Shape 1"/>
          <p:cNvSpPr/>
          <p:nvPr/>
        </p:nvSpPr>
        <p:spPr>
          <a:xfrm>
            <a:off x="7863840" y="-822960"/>
            <a:ext cx="2377080" cy="2377080"/>
          </a:xfrm>
          <a:prstGeom prst="ellipse">
            <a:avLst/>
          </a:prstGeom>
          <a:solidFill>
            <a:srgbClr val="e9a23b">
              <a:alpha val="2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7" name="Shape 2"/>
          <p:cNvSpPr/>
          <p:nvPr/>
        </p:nvSpPr>
        <p:spPr>
          <a:xfrm>
            <a:off x="548640" y="457200"/>
            <a:ext cx="731160" cy="731160"/>
          </a:xfrm>
          <a:prstGeom prst="ellipse">
            <a:avLst/>
          </a:prstGeom>
          <a:solidFill>
            <a:srgbClr val="2a9d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18" name="Image 0" descr="preencoded.png"/>
          <p:cNvPicPr/>
          <p:nvPr/>
        </p:nvPicPr>
        <p:blipFill>
          <a:blip r:embed="rId1"/>
          <a:stretch/>
        </p:blipFill>
        <p:spPr>
          <a:xfrm>
            <a:off x="713160" y="62172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419" name="Text 3"/>
          <p:cNvSpPr/>
          <p:nvPr/>
        </p:nvSpPr>
        <p:spPr>
          <a:xfrm>
            <a:off x="548640" y="1325880"/>
            <a:ext cx="7863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mbria"/>
                <a:ea typeface="Cambria"/>
              </a:rPr>
              <a:t>Why RootED works</a:t>
            </a:r>
            <a:endParaRPr b="0" lang="en-IN" sz="3200" spc="-1" strike="noStrike">
              <a:latin typeface="Arial"/>
            </a:endParaRPr>
          </a:p>
        </p:txBody>
      </p:sp>
      <p:pic>
        <p:nvPicPr>
          <p:cNvPr id="420" name="Image 1" descr="preencoded.png"/>
          <p:cNvPicPr/>
          <p:nvPr/>
        </p:nvPicPr>
        <p:blipFill>
          <a:blip r:embed="rId2"/>
          <a:stretch/>
        </p:blipFill>
        <p:spPr>
          <a:xfrm>
            <a:off x="567000" y="217620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421" name="Text 4"/>
          <p:cNvSpPr/>
          <p:nvPr/>
        </p:nvSpPr>
        <p:spPr>
          <a:xfrm>
            <a:off x="960120" y="2148840"/>
            <a:ext cx="6400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e5f1ef"/>
                </a:solidFill>
                <a:latin typeface="Calibri"/>
                <a:ea typeface="Calibri"/>
              </a:rPr>
              <a:t>Attacks root causes — money, language, gaps and home — not just content.</a:t>
            </a:r>
            <a:endParaRPr b="0" lang="en-IN" sz="1350" spc="-1" strike="noStrike">
              <a:latin typeface="Arial"/>
            </a:endParaRPr>
          </a:p>
        </p:txBody>
      </p:sp>
      <p:pic>
        <p:nvPicPr>
          <p:cNvPr id="422" name="Image 2" descr="preencoded.png"/>
          <p:cNvPicPr/>
          <p:nvPr/>
        </p:nvPicPr>
        <p:blipFill>
          <a:blip r:embed="rId3"/>
          <a:stretch/>
        </p:blipFill>
        <p:spPr>
          <a:xfrm>
            <a:off x="567000" y="26791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423" name="Text 5"/>
          <p:cNvSpPr/>
          <p:nvPr/>
        </p:nvSpPr>
        <p:spPr>
          <a:xfrm>
            <a:off x="960120" y="2651760"/>
            <a:ext cx="6400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e5f1ef"/>
                </a:solidFill>
                <a:latin typeface="Calibri"/>
                <a:ea typeface="Calibri"/>
              </a:rPr>
              <a:t>Native-language first, mobile-first, built for low bandwidth.</a:t>
            </a:r>
            <a:endParaRPr b="0" lang="en-IN" sz="1350" spc="-1" strike="noStrike">
              <a:latin typeface="Arial"/>
            </a:endParaRPr>
          </a:p>
        </p:txBody>
      </p:sp>
      <p:pic>
        <p:nvPicPr>
          <p:cNvPr id="424" name="Image 3" descr="preencoded.png"/>
          <p:cNvPicPr/>
          <p:nvPr/>
        </p:nvPicPr>
        <p:blipFill>
          <a:blip r:embed="rId4"/>
          <a:stretch/>
        </p:blipFill>
        <p:spPr>
          <a:xfrm>
            <a:off x="567000" y="318204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425" name="Text 6"/>
          <p:cNvSpPr/>
          <p:nvPr/>
        </p:nvSpPr>
        <p:spPr>
          <a:xfrm>
            <a:off x="960120" y="3154680"/>
            <a:ext cx="6400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e5f1ef"/>
                </a:solidFill>
                <a:latin typeface="Calibri"/>
                <a:ea typeface="Calibri"/>
              </a:rPr>
              <a:t>Earn-while-you-learn breaks the 'drop out to earn' trap.</a:t>
            </a:r>
            <a:endParaRPr b="0" lang="en-IN" sz="1350" spc="-1" strike="noStrike">
              <a:latin typeface="Arial"/>
            </a:endParaRPr>
          </a:p>
        </p:txBody>
      </p:sp>
      <p:pic>
        <p:nvPicPr>
          <p:cNvPr id="426" name="Image 4" descr="preencoded.png"/>
          <p:cNvPicPr/>
          <p:nvPr/>
        </p:nvPicPr>
        <p:blipFill>
          <a:blip r:embed="rId5"/>
          <a:stretch/>
        </p:blipFill>
        <p:spPr>
          <a:xfrm>
            <a:off x="567000" y="368496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427" name="Text 7"/>
          <p:cNvSpPr/>
          <p:nvPr/>
        </p:nvSpPr>
        <p:spPr>
          <a:xfrm>
            <a:off x="960120" y="3657600"/>
            <a:ext cx="6400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e5f1ef"/>
                </a:solidFill>
                <a:latin typeface="Calibri"/>
                <a:ea typeface="Calibri"/>
              </a:rPr>
              <a:t>AI does the heavy lifting; people and NGOs build the trust.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428" name="Shape 8"/>
          <p:cNvSpPr/>
          <p:nvPr/>
        </p:nvSpPr>
        <p:spPr>
          <a:xfrm>
            <a:off x="548640" y="4370760"/>
            <a:ext cx="1828440" cy="566640"/>
          </a:xfrm>
          <a:prstGeom prst="roundRect">
            <a:avLst>
              <a:gd name="adj" fmla="val 9677"/>
            </a:avLst>
          </a:prstGeom>
          <a:solidFill>
            <a:srgbClr val="14746f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9" name="Text 9"/>
          <p:cNvSpPr/>
          <p:nvPr/>
        </p:nvSpPr>
        <p:spPr>
          <a:xfrm>
            <a:off x="658440" y="4370760"/>
            <a:ext cx="1645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Retention  </a:t>
            </a:r>
            <a:r>
              <a:rPr b="0" lang="en-US" sz="900" spc="-1" strike="noStrike">
                <a:solidFill>
                  <a:srgbClr val="afd0cb"/>
                </a:solidFill>
                <a:latin typeface="Calibri"/>
                <a:ea typeface="Calibri"/>
              </a:rPr>
              <a:t>fewer dropouts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30" name="Shape 10"/>
          <p:cNvSpPr/>
          <p:nvPr/>
        </p:nvSpPr>
        <p:spPr>
          <a:xfrm>
            <a:off x="2560320" y="4370760"/>
            <a:ext cx="1828440" cy="566640"/>
          </a:xfrm>
          <a:prstGeom prst="roundRect">
            <a:avLst>
              <a:gd name="adj" fmla="val 9677"/>
            </a:avLst>
          </a:prstGeom>
          <a:solidFill>
            <a:srgbClr val="14746f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1" name="Text 11"/>
          <p:cNvSpPr/>
          <p:nvPr/>
        </p:nvSpPr>
        <p:spPr>
          <a:xfrm>
            <a:off x="2670120" y="4370760"/>
            <a:ext cx="1645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Mastery  </a:t>
            </a:r>
            <a:r>
              <a:rPr b="0" lang="en-US" sz="900" spc="-1" strike="noStrike">
                <a:solidFill>
                  <a:srgbClr val="afd0cb"/>
                </a:solidFill>
                <a:latin typeface="Calibri"/>
                <a:ea typeface="Calibri"/>
              </a:rPr>
              <a:t>pre/post gains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32" name="Shape 12"/>
          <p:cNvSpPr/>
          <p:nvPr/>
        </p:nvSpPr>
        <p:spPr>
          <a:xfrm>
            <a:off x="4572000" y="4370760"/>
            <a:ext cx="1828440" cy="566640"/>
          </a:xfrm>
          <a:prstGeom prst="roundRect">
            <a:avLst>
              <a:gd name="adj" fmla="val 9677"/>
            </a:avLst>
          </a:prstGeom>
          <a:solidFill>
            <a:srgbClr val="14746f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3" name="Text 13"/>
          <p:cNvSpPr/>
          <p:nvPr/>
        </p:nvSpPr>
        <p:spPr>
          <a:xfrm>
            <a:off x="4681800" y="4370760"/>
            <a:ext cx="1645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₹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earned  </a:t>
            </a:r>
            <a:r>
              <a:rPr b="0" lang="en-US" sz="900" spc="-1" strike="noStrike">
                <a:solidFill>
                  <a:srgbClr val="afd0cb"/>
                </a:solidFill>
                <a:latin typeface="Calibri"/>
                <a:ea typeface="Calibri"/>
              </a:rPr>
              <a:t>by students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34" name="Shape 14"/>
          <p:cNvSpPr/>
          <p:nvPr/>
        </p:nvSpPr>
        <p:spPr>
          <a:xfrm>
            <a:off x="6583680" y="4370760"/>
            <a:ext cx="1828440" cy="566640"/>
          </a:xfrm>
          <a:prstGeom prst="roundRect">
            <a:avLst>
              <a:gd name="adj" fmla="val 9677"/>
            </a:avLst>
          </a:prstGeom>
          <a:solidFill>
            <a:srgbClr val="14746f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5" name="Text 15"/>
          <p:cNvSpPr/>
          <p:nvPr/>
        </p:nvSpPr>
        <p:spPr>
          <a:xfrm>
            <a:off x="6693480" y="4370760"/>
            <a:ext cx="1645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Resolved  </a:t>
            </a:r>
            <a:r>
              <a:rPr b="0" lang="en-US" sz="900" spc="-1" strike="noStrike">
                <a:solidFill>
                  <a:srgbClr val="afd0cb"/>
                </a:solidFill>
                <a:latin typeface="Calibri"/>
                <a:ea typeface="Calibri"/>
              </a:rPr>
              <a:t>grievances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36" name="Text 16"/>
          <p:cNvSpPr/>
          <p:nvPr/>
        </p:nvSpPr>
        <p:spPr>
          <a:xfrm>
            <a:off x="6126480" y="137160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e9a23b"/>
                </a:solidFill>
                <a:latin typeface="Calibri"/>
                <a:ea typeface="Calibri"/>
              </a:rPr>
              <a:t>RootED  ·  Team RootED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2026-06-30T12:16:43Z</dcterms:created>
  <dc:creator>Team RootED</dc:creator>
  <dc:description/>
  <dc:language>en-IN</dc:language>
  <cp:lastModifiedBy/>
  <dcterms:modified xsi:type="dcterms:W3CDTF">2026-06-30T21:20:25Z</dcterms:modified>
  <cp:revision>4</cp:revision>
  <dc:subject>PptxGenJS Presentation</dc:subject>
  <dc:title>RootED — Hackathon Idea Submission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On-screen Show (16:9)</vt:lpwstr>
  </property>
  <property fmtid="{D5CDD505-2E9C-101B-9397-08002B2CF9AE}" pid="4" name="Slides">
    <vt:i4>14</vt:i4>
  </property>
</Properties>
</file>